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65" r:id="rId5"/>
    <p:sldId id="266" r:id="rId6"/>
    <p:sldId id="267" r:id="rId7"/>
    <p:sldId id="268" r:id="rId8"/>
    <p:sldId id="269" r:id="rId9"/>
    <p:sldId id="270" r:id="rId10"/>
    <p:sldId id="259" r:id="rId11"/>
    <p:sldId id="271" r:id="rId12"/>
    <p:sldId id="272" r:id="rId13"/>
    <p:sldId id="260" r:id="rId14"/>
    <p:sldId id="261" r:id="rId15"/>
    <p:sldId id="263" r:id="rId16"/>
    <p:sldId id="273" r:id="rId17"/>
    <p:sldId id="264" r:id="rId18"/>
    <p:sldId id="274" r:id="rId19"/>
  </p:sldIdLst>
  <p:sldSz cx="9144000" cy="5143500" type="screen16x9"/>
  <p:notesSz cx="6858000" cy="9144000"/>
  <p:embeddedFontLst>
    <p:embeddedFont>
      <p:font typeface="Lato" panose="020F0502020204030203" pitchFamily="34" charset="0"/>
      <p:regular r:id="rId21"/>
      <p:bold r:id="rId22"/>
      <p:italic r:id="rId23"/>
      <p:boldItalic r:id="rId24"/>
    </p:embeddedFont>
    <p:embeddedFont>
      <p:font typeface="Montserrat" panose="00000500000000000000" pitchFamily="2" charset="0"/>
      <p:regular r:id="rId25"/>
      <p:bold r:id="rId26"/>
      <p:italic r:id="rId27"/>
      <p:boldItalic r:id="rId28"/>
    </p:embeddedFont>
    <p:embeddedFont>
      <p:font typeface="Raleway"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145" d="100"/>
          <a:sy n="145" d="100"/>
        </p:scale>
        <p:origin x="612"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36c227a4f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36c227a4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36251e9b6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36251e9b6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36251e9b62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36251e9b62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36251e9b6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36251e9b6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36251e9b62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36251e9b62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36c227a4f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36c227a4f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136c227a4fd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136c227a4fd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36c227a4f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136c227a4f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fr"/>
              <a:t>‹N°›</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Les Plus Beaux Logis de Paris</a:t>
            </a:r>
            <a:endParaRPr dirty="0"/>
          </a:p>
          <a:p>
            <a:pPr marL="0" lvl="0" indent="0" algn="l" rtl="0">
              <a:spcBef>
                <a:spcPts val="0"/>
              </a:spcBef>
              <a:spcAft>
                <a:spcPts val="0"/>
              </a:spcAft>
              <a:buNone/>
            </a:pPr>
            <a:r>
              <a:rPr lang="fr"/>
              <a:t>Partie 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subTitle" idx="1"/>
          </p:nvPr>
        </p:nvSpPr>
        <p:spPr>
          <a:xfrm>
            <a:off x="623400" y="2612200"/>
            <a:ext cx="8520600" cy="1449600"/>
          </a:xfrm>
          <a:prstGeom prst="rect">
            <a:avLst/>
          </a:prstGeom>
        </p:spPr>
        <p:txBody>
          <a:bodyPr spcFirstLastPara="1" wrap="square" lIns="91425" tIns="91425" rIns="91425" bIns="91425" anchor="t" anchorCtr="0">
            <a:normAutofit fontScale="77500" lnSpcReduction="20000"/>
          </a:bodyPr>
          <a:lstStyle/>
          <a:p>
            <a:pPr marL="0" lvl="0" indent="0" algn="l" rtl="0">
              <a:lnSpc>
                <a:spcPct val="90000"/>
              </a:lnSpc>
              <a:spcBef>
                <a:spcPts val="1000"/>
              </a:spcBef>
              <a:spcAft>
                <a:spcPts val="0"/>
              </a:spcAft>
              <a:buClr>
                <a:schemeClr val="dk1"/>
              </a:buClr>
              <a:buSzPct val="50000"/>
              <a:buFont typeface="Arial"/>
              <a:buNone/>
            </a:pPr>
            <a:r>
              <a:rPr lang="fr" sz="2200" i="1" dirty="0">
                <a:solidFill>
                  <a:schemeClr val="dk1"/>
                </a:solidFill>
                <a:latin typeface="Montserrat"/>
                <a:ea typeface="Montserrat"/>
                <a:cs typeface="Montserrat"/>
                <a:sym typeface="Montserrat"/>
              </a:rPr>
              <a:t>Titre du projet : Réalisez une analyse de données avec Python</a:t>
            </a:r>
            <a:endParaRPr sz="2200" i="1" dirty="0">
              <a:solidFill>
                <a:schemeClr val="dk1"/>
              </a:solidFill>
              <a:latin typeface="Montserrat"/>
              <a:ea typeface="Montserrat"/>
              <a:cs typeface="Montserrat"/>
              <a:sym typeface="Montserrat"/>
            </a:endParaRPr>
          </a:p>
          <a:p>
            <a:pPr marL="0" lvl="0" indent="0" algn="l" rtl="0">
              <a:lnSpc>
                <a:spcPct val="90000"/>
              </a:lnSpc>
              <a:spcBef>
                <a:spcPts val="1000"/>
              </a:spcBef>
              <a:spcAft>
                <a:spcPts val="0"/>
              </a:spcAft>
              <a:buClr>
                <a:schemeClr val="dk1"/>
              </a:buClr>
              <a:buSzPct val="50000"/>
              <a:buFont typeface="Arial"/>
              <a:buNone/>
            </a:pPr>
            <a:r>
              <a:rPr lang="fr" sz="2200" i="1" dirty="0">
                <a:solidFill>
                  <a:schemeClr val="dk1"/>
                </a:solidFill>
                <a:latin typeface="Montserrat"/>
                <a:ea typeface="Montserrat"/>
                <a:cs typeface="Montserrat"/>
                <a:sym typeface="Montserrat"/>
              </a:rPr>
              <a:t>Prénom : Alexander</a:t>
            </a:r>
            <a:endParaRPr sz="2200" i="1" dirty="0">
              <a:solidFill>
                <a:schemeClr val="dk1"/>
              </a:solidFill>
              <a:latin typeface="Montserrat"/>
              <a:ea typeface="Montserrat"/>
              <a:cs typeface="Montserrat"/>
              <a:sym typeface="Montserrat"/>
            </a:endParaRPr>
          </a:p>
          <a:p>
            <a:pPr marL="0" lvl="0" indent="0" algn="l" rtl="0">
              <a:lnSpc>
                <a:spcPct val="90000"/>
              </a:lnSpc>
              <a:spcBef>
                <a:spcPts val="1000"/>
              </a:spcBef>
              <a:spcAft>
                <a:spcPts val="0"/>
              </a:spcAft>
              <a:buClr>
                <a:schemeClr val="dk1"/>
              </a:buClr>
              <a:buSzPct val="50000"/>
              <a:buFont typeface="Arial"/>
              <a:buNone/>
            </a:pPr>
            <a:r>
              <a:rPr lang="fr" sz="2200" i="1" dirty="0">
                <a:solidFill>
                  <a:schemeClr val="dk1"/>
                </a:solidFill>
                <a:latin typeface="Montserrat"/>
                <a:ea typeface="Montserrat"/>
                <a:cs typeface="Montserrat"/>
                <a:sym typeface="Montserrat"/>
              </a:rPr>
              <a:t>Nom : Lawson</a:t>
            </a:r>
            <a:endParaRPr sz="2200" i="1" dirty="0">
              <a:solidFill>
                <a:schemeClr val="dk1"/>
              </a:solidFill>
              <a:latin typeface="Montserrat"/>
              <a:ea typeface="Montserrat"/>
              <a:cs typeface="Montserrat"/>
              <a:sym typeface="Montserrat"/>
            </a:endParaRPr>
          </a:p>
          <a:p>
            <a:pPr marL="0" lvl="0" indent="0" algn="l" rtl="0">
              <a:lnSpc>
                <a:spcPct val="90000"/>
              </a:lnSpc>
              <a:spcBef>
                <a:spcPts val="1000"/>
              </a:spcBef>
              <a:spcAft>
                <a:spcPts val="0"/>
              </a:spcAft>
              <a:buClr>
                <a:schemeClr val="dk1"/>
              </a:buClr>
              <a:buSzPct val="50000"/>
              <a:buFont typeface="Arial"/>
              <a:buNone/>
            </a:pPr>
            <a:r>
              <a:rPr lang="fr" sz="2200" i="1" dirty="0">
                <a:solidFill>
                  <a:schemeClr val="dk1"/>
                </a:solidFill>
                <a:latin typeface="Montserrat"/>
                <a:ea typeface="Montserrat"/>
                <a:cs typeface="Montserrat"/>
                <a:sym typeface="Montserrat"/>
              </a:rPr>
              <a:t>Date : 02/10/25</a:t>
            </a:r>
            <a:endParaRPr sz="2200" i="1" dirty="0">
              <a:solidFill>
                <a:schemeClr val="dk1"/>
              </a:solidFill>
              <a:latin typeface="Montserrat"/>
              <a:ea typeface="Montserrat"/>
              <a:cs typeface="Montserrat"/>
              <a:sym typeface="Montserrat"/>
            </a:endParaRPr>
          </a:p>
          <a:p>
            <a:pPr marL="0" lvl="0" indent="0" algn="l" rtl="0">
              <a:spcBef>
                <a:spcPts val="0"/>
              </a:spcBef>
              <a:spcAft>
                <a:spcPts val="0"/>
              </a:spcAft>
              <a:buNone/>
            </a:pPr>
            <a:endParaRPr dirty="0"/>
          </a:p>
        </p:txBody>
      </p:sp>
      <p:pic>
        <p:nvPicPr>
          <p:cNvPr id="92" name="Google Shape;92;p14"/>
          <p:cNvPicPr preferRelativeResize="0"/>
          <p:nvPr/>
        </p:nvPicPr>
        <p:blipFill>
          <a:blip r:embed="rId3">
            <a:alphaModFix/>
          </a:blip>
          <a:stretch>
            <a:fillRect/>
          </a:stretch>
        </p:blipFill>
        <p:spPr>
          <a:xfrm>
            <a:off x="623400" y="89925"/>
            <a:ext cx="3669750" cy="164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7650" y="605575"/>
            <a:ext cx="7688700" cy="535200"/>
          </a:xfrm>
          <a:prstGeom prst="rect">
            <a:avLst/>
          </a:prstGeom>
        </p:spPr>
        <p:txBody>
          <a:bodyPr spcFirstLastPara="1" wrap="square" lIns="91425" tIns="91425" rIns="91425" bIns="91425" anchor="t" anchorCtr="0">
            <a:noAutofit/>
          </a:bodyPr>
          <a:lstStyle/>
          <a:p>
            <a:pPr marL="457200" lvl="0" indent="-415290" algn="l" rtl="0">
              <a:spcBef>
                <a:spcPts val="0"/>
              </a:spcBef>
              <a:spcAft>
                <a:spcPts val="0"/>
              </a:spcAft>
              <a:buSzPts val="2940"/>
              <a:buFont typeface="Montserrat"/>
              <a:buAutoNum type="romanUcPeriod"/>
            </a:pPr>
            <a:r>
              <a:rPr lang="fr" sz="2940">
                <a:latin typeface="Montserrat"/>
                <a:ea typeface="Montserrat"/>
                <a:cs typeface="Montserrat"/>
                <a:sym typeface="Montserrat"/>
              </a:rPr>
              <a:t>Analyse du marché de l’immobilier</a:t>
            </a:r>
            <a:endParaRPr sz="2520" dirty="0"/>
          </a:p>
        </p:txBody>
      </p:sp>
      <p:sp>
        <p:nvSpPr>
          <p:cNvPr id="99" name="Google Shape;99;p15"/>
          <p:cNvSpPr txBox="1">
            <a:spLocks noGrp="1"/>
          </p:cNvSpPr>
          <p:nvPr>
            <p:ph type="body" idx="1"/>
          </p:nvPr>
        </p:nvSpPr>
        <p:spPr>
          <a:xfrm>
            <a:off x="65875" y="1374200"/>
            <a:ext cx="7688700" cy="2937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fr-FR" b="1" i="1" dirty="0">
                <a:latin typeface="Montserrat"/>
                <a:ea typeface="Montserrat"/>
                <a:cs typeface="Montserrat"/>
                <a:sym typeface="Montserrat"/>
              </a:rPr>
              <a:t>Evolution du prix au </a:t>
            </a:r>
            <a:r>
              <a:rPr lang="fr-FR" b="1" i="1" dirty="0" err="1">
                <a:latin typeface="Montserrat"/>
                <a:ea typeface="Montserrat"/>
                <a:cs typeface="Montserrat"/>
                <a:sym typeface="Montserrat"/>
              </a:rPr>
              <a:t>metre</a:t>
            </a:r>
            <a:r>
              <a:rPr lang="fr-FR" b="1" i="1" dirty="0">
                <a:latin typeface="Montserrat"/>
                <a:ea typeface="Montserrat"/>
                <a:cs typeface="Montserrat"/>
                <a:sym typeface="Montserrat"/>
              </a:rPr>
              <a:t> carré des appartements dans Paris</a:t>
            </a:r>
          </a:p>
          <a:p>
            <a:pPr marL="0" lvl="0" indent="0" algn="l" rtl="0">
              <a:spcBef>
                <a:spcPts val="0"/>
              </a:spcBef>
              <a:spcAft>
                <a:spcPts val="1200"/>
              </a:spcAft>
              <a:buNone/>
            </a:pPr>
            <a:endParaRPr lang="fr-FR" b="1" i="1" dirty="0">
              <a:latin typeface="Montserrat"/>
              <a:ea typeface="Montserrat"/>
              <a:cs typeface="Montserrat"/>
              <a:sym typeface="Montserrat"/>
            </a:endParaRPr>
          </a:p>
          <a:p>
            <a:pPr marL="0" lvl="0" indent="0" algn="l" rtl="0">
              <a:spcBef>
                <a:spcPts val="0"/>
              </a:spcBef>
              <a:spcAft>
                <a:spcPts val="1200"/>
              </a:spcAft>
              <a:buNone/>
            </a:pPr>
            <a:endParaRPr lang="fr-FR" b="1" i="1" dirty="0">
              <a:latin typeface="Montserrat"/>
              <a:ea typeface="Montserrat"/>
              <a:cs typeface="Montserrat"/>
              <a:sym typeface="Montserrat"/>
            </a:endParaRPr>
          </a:p>
          <a:p>
            <a:pPr marL="0" lvl="0" indent="0" algn="l" rtl="0">
              <a:spcBef>
                <a:spcPts val="0"/>
              </a:spcBef>
              <a:spcAft>
                <a:spcPts val="1200"/>
              </a:spcAft>
              <a:buNone/>
            </a:pPr>
            <a:endParaRPr lang="fr-FR" b="0" i="0" dirty="0">
              <a:solidFill>
                <a:srgbClr val="000000"/>
              </a:solidFill>
              <a:effectLst/>
              <a:latin typeface="Helvetica Neue"/>
            </a:endParaRPr>
          </a:p>
          <a:p>
            <a:pPr marL="0" lvl="0" indent="0" algn="l" rtl="0">
              <a:spcBef>
                <a:spcPts val="0"/>
              </a:spcBef>
              <a:spcAft>
                <a:spcPts val="1200"/>
              </a:spcAft>
              <a:buNone/>
            </a:pPr>
            <a:endParaRPr lang="fr-FR" dirty="0">
              <a:solidFill>
                <a:srgbClr val="000000"/>
              </a:solidFill>
              <a:latin typeface="Helvetica Neue"/>
            </a:endParaRPr>
          </a:p>
          <a:p>
            <a:pPr marL="0" lvl="0" indent="0" algn="l" rtl="0">
              <a:spcBef>
                <a:spcPts val="0"/>
              </a:spcBef>
              <a:spcAft>
                <a:spcPts val="1200"/>
              </a:spcAft>
              <a:buNone/>
            </a:pPr>
            <a:r>
              <a:rPr lang="fr-FR" b="0" i="0" dirty="0">
                <a:solidFill>
                  <a:srgbClr val="000000"/>
                </a:solidFill>
                <a:effectLst/>
                <a:latin typeface="Helvetica Neue"/>
              </a:rPr>
              <a:t>On constate que la moyenne des prix de vente </a:t>
            </a:r>
          </a:p>
          <a:p>
            <a:pPr marL="0" lvl="0" indent="0" algn="l" rtl="0">
              <a:spcBef>
                <a:spcPts val="0"/>
              </a:spcBef>
              <a:spcAft>
                <a:spcPts val="1200"/>
              </a:spcAft>
              <a:buNone/>
            </a:pPr>
            <a:r>
              <a:rPr lang="fr-FR" b="0" i="0" dirty="0">
                <a:solidFill>
                  <a:srgbClr val="000000"/>
                </a:solidFill>
                <a:effectLst/>
                <a:latin typeface="Helvetica Neue"/>
              </a:rPr>
              <a:t>des appartements à Paris augmente au fils des années</a:t>
            </a:r>
            <a:endParaRPr b="1" i="1" dirty="0">
              <a:latin typeface="Montserrat"/>
              <a:ea typeface="Montserrat"/>
              <a:cs typeface="Montserrat"/>
              <a:sym typeface="Montserrat"/>
            </a:endParaRPr>
          </a:p>
        </p:txBody>
      </p:sp>
      <p:pic>
        <p:nvPicPr>
          <p:cNvPr id="3" name="Image 2">
            <a:extLst>
              <a:ext uri="{FF2B5EF4-FFF2-40B4-BE49-F238E27FC236}">
                <a16:creationId xmlns:a16="http://schemas.microsoft.com/office/drawing/2014/main" id="{434CE18C-4C2A-3A60-AA90-0ADE301D22C5}"/>
              </a:ext>
            </a:extLst>
          </p:cNvPr>
          <p:cNvPicPr>
            <a:picLocks noChangeAspect="1"/>
          </p:cNvPicPr>
          <p:nvPr/>
        </p:nvPicPr>
        <p:blipFill>
          <a:blip r:embed="rId3"/>
          <a:stretch>
            <a:fillRect/>
          </a:stretch>
        </p:blipFill>
        <p:spPr>
          <a:xfrm>
            <a:off x="884313" y="1857035"/>
            <a:ext cx="2620546" cy="1354390"/>
          </a:xfrm>
          <a:prstGeom prst="rect">
            <a:avLst/>
          </a:prstGeom>
        </p:spPr>
      </p:pic>
      <p:pic>
        <p:nvPicPr>
          <p:cNvPr id="5" name="Image 4">
            <a:extLst>
              <a:ext uri="{FF2B5EF4-FFF2-40B4-BE49-F238E27FC236}">
                <a16:creationId xmlns:a16="http://schemas.microsoft.com/office/drawing/2014/main" id="{B2A8367E-D7EF-DADA-40E7-BC5AA7984514}"/>
              </a:ext>
            </a:extLst>
          </p:cNvPr>
          <p:cNvPicPr>
            <a:picLocks noChangeAspect="1"/>
          </p:cNvPicPr>
          <p:nvPr/>
        </p:nvPicPr>
        <p:blipFill>
          <a:blip r:embed="rId4"/>
          <a:stretch>
            <a:fillRect/>
          </a:stretch>
        </p:blipFill>
        <p:spPr>
          <a:xfrm>
            <a:off x="4970033" y="1663699"/>
            <a:ext cx="3660646" cy="34385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CAD9B785-F266-C11D-96CF-31B5995C33C1}"/>
              </a:ext>
            </a:extLst>
          </p:cNvPr>
          <p:cNvSpPr>
            <a:spLocks noGrp="1"/>
          </p:cNvSpPr>
          <p:nvPr>
            <p:ph type="body" idx="1"/>
          </p:nvPr>
        </p:nvSpPr>
        <p:spPr>
          <a:xfrm>
            <a:off x="0" y="1189874"/>
            <a:ext cx="7688700" cy="2658225"/>
          </a:xfrm>
        </p:spPr>
        <p:txBody>
          <a:bodyPr>
            <a:normAutofit fontScale="77500" lnSpcReduction="20000"/>
          </a:bodyPr>
          <a:lstStyle/>
          <a:p>
            <a:pPr marL="146050" indent="0">
              <a:buNone/>
            </a:pPr>
            <a:r>
              <a:rPr lang="fr-FR" b="1" i="1" dirty="0">
                <a:latin typeface="Montserrat" panose="00000500000000000000" pitchFamily="2" charset="0"/>
              </a:rPr>
              <a:t>Différences de prix au </a:t>
            </a:r>
            <a:r>
              <a:rPr lang="fr-FR" b="1" i="1" dirty="0" err="1">
                <a:latin typeface="Montserrat" panose="00000500000000000000" pitchFamily="2" charset="0"/>
              </a:rPr>
              <a:t>metre</a:t>
            </a:r>
            <a:r>
              <a:rPr lang="fr-FR" b="1" i="1" dirty="0">
                <a:latin typeface="Montserrat" panose="00000500000000000000" pitchFamily="2" charset="0"/>
              </a:rPr>
              <a:t> carré entre les arrondissements</a:t>
            </a:r>
          </a:p>
          <a:p>
            <a:pPr marL="146050" indent="0">
              <a:buNone/>
            </a:pPr>
            <a:endParaRPr lang="fr-FR" b="1" i="1" dirty="0">
              <a:latin typeface="Montserrat" panose="00000500000000000000" pitchFamily="2" charset="0"/>
            </a:endParaRPr>
          </a:p>
          <a:p>
            <a:pPr marL="146050" indent="0">
              <a:buNone/>
            </a:pPr>
            <a:endParaRPr lang="fr-FR" b="1" i="1" dirty="0">
              <a:latin typeface="Montserrat" panose="00000500000000000000" pitchFamily="2" charset="0"/>
            </a:endParaRPr>
          </a:p>
          <a:p>
            <a:pPr marL="0" marR="0" lvl="0" indent="0" algn="l" defTabSz="914400" rtl="0" eaLnBrk="1" fontAlgn="auto" latinLnBrk="0" hangingPunct="1">
              <a:lnSpc>
                <a:spcPct val="115000"/>
              </a:lnSpc>
              <a:spcBef>
                <a:spcPts val="0"/>
              </a:spcBef>
              <a:spcAft>
                <a:spcPts val="1200"/>
              </a:spcAft>
              <a:buClr>
                <a:srgbClr val="595959"/>
              </a:buClr>
              <a:buSzPts val="1300"/>
              <a:buFont typeface="Lato"/>
              <a:buNone/>
              <a:tabLst/>
              <a:defRPr/>
            </a:pPr>
            <a:endParaRPr kumimoji="0" lang="fr-FR" sz="1300" b="0" i="0" u="none" strike="noStrike" kern="0" cap="none" spc="0" normalizeH="0" baseline="0" noProof="0" dirty="0">
              <a:ln>
                <a:noFill/>
              </a:ln>
              <a:solidFill>
                <a:srgbClr val="000000"/>
              </a:solidFill>
              <a:effectLst/>
              <a:uLnTx/>
              <a:uFillTx/>
              <a:latin typeface="Helvetica Neue"/>
              <a:cs typeface="Lato"/>
              <a:sym typeface="Lato"/>
            </a:endParaRPr>
          </a:p>
          <a:p>
            <a:pPr marL="0" marR="0" lvl="0" indent="0" algn="l" defTabSz="914400" rtl="0" eaLnBrk="1" fontAlgn="auto" latinLnBrk="0" hangingPunct="1">
              <a:lnSpc>
                <a:spcPct val="115000"/>
              </a:lnSpc>
              <a:spcBef>
                <a:spcPts val="0"/>
              </a:spcBef>
              <a:spcAft>
                <a:spcPts val="1200"/>
              </a:spcAft>
              <a:buClr>
                <a:srgbClr val="595959"/>
              </a:buClr>
              <a:buSzPts val="1300"/>
              <a:buFont typeface="Lato"/>
              <a:buNone/>
              <a:tabLst/>
              <a:defRPr/>
            </a:pPr>
            <a:r>
              <a:rPr kumimoji="0" lang="fr-FR" sz="1700" b="0" i="0" u="none" strike="noStrike" kern="0" cap="none" spc="0" normalizeH="0" baseline="0" noProof="0" dirty="0">
                <a:ln>
                  <a:noFill/>
                </a:ln>
                <a:solidFill>
                  <a:srgbClr val="000000"/>
                </a:solidFill>
                <a:effectLst/>
                <a:uLnTx/>
                <a:uFillTx/>
                <a:latin typeface="Helvetica Neue"/>
                <a:cs typeface="Lato"/>
                <a:sym typeface="Lato"/>
              </a:rPr>
              <a:t>On voit que le 1</a:t>
            </a:r>
            <a:r>
              <a:rPr kumimoji="0" lang="fr-FR" sz="1700" b="0" i="0" u="none" strike="noStrike" kern="0" cap="none" spc="0" normalizeH="0" baseline="30000" noProof="0" dirty="0">
                <a:ln>
                  <a:noFill/>
                </a:ln>
                <a:solidFill>
                  <a:srgbClr val="000000"/>
                </a:solidFill>
                <a:effectLst/>
                <a:uLnTx/>
                <a:uFillTx/>
                <a:latin typeface="Helvetica Neue"/>
                <a:cs typeface="Lato"/>
                <a:sym typeface="Lato"/>
              </a:rPr>
              <a:t>er</a:t>
            </a:r>
            <a:r>
              <a:rPr kumimoji="0" lang="fr-FR" sz="1700" b="0" i="0" u="none" strike="noStrike" kern="0" cap="none" spc="0" normalizeH="0" baseline="0" noProof="0" dirty="0">
                <a:ln>
                  <a:noFill/>
                </a:ln>
                <a:solidFill>
                  <a:srgbClr val="000000"/>
                </a:solidFill>
                <a:effectLst/>
                <a:uLnTx/>
                <a:uFillTx/>
                <a:latin typeface="Helvetica Neue"/>
                <a:cs typeface="Lato"/>
                <a:sym typeface="Lato"/>
              </a:rPr>
              <a:t> arrondissement suit la tendance de la moyenne</a:t>
            </a:r>
          </a:p>
          <a:p>
            <a:pPr marL="0" marR="0" lvl="0" indent="0" algn="l" defTabSz="914400" rtl="0" eaLnBrk="1" fontAlgn="auto" latinLnBrk="0" hangingPunct="1">
              <a:lnSpc>
                <a:spcPct val="115000"/>
              </a:lnSpc>
              <a:spcBef>
                <a:spcPts val="0"/>
              </a:spcBef>
              <a:spcAft>
                <a:spcPts val="1200"/>
              </a:spcAft>
              <a:buClr>
                <a:srgbClr val="595959"/>
              </a:buClr>
              <a:buSzPts val="1300"/>
              <a:buFont typeface="Lato"/>
              <a:buNone/>
              <a:tabLst/>
              <a:defRPr/>
            </a:pPr>
            <a:r>
              <a:rPr lang="fr-FR" sz="1700" dirty="0">
                <a:solidFill>
                  <a:srgbClr val="000000"/>
                </a:solidFill>
                <a:latin typeface="Helvetica Neue"/>
                <a:ea typeface="Montserrat"/>
              </a:rPr>
              <a:t>des autres appartements avec une montée du prix du mètre</a:t>
            </a:r>
          </a:p>
          <a:p>
            <a:pPr marL="0" marR="0" lvl="0" indent="0" algn="l" defTabSz="914400" rtl="0" eaLnBrk="1" fontAlgn="auto" latinLnBrk="0" hangingPunct="1">
              <a:lnSpc>
                <a:spcPct val="115000"/>
              </a:lnSpc>
              <a:spcBef>
                <a:spcPts val="0"/>
              </a:spcBef>
              <a:spcAft>
                <a:spcPts val="1200"/>
              </a:spcAft>
              <a:buClr>
                <a:srgbClr val="595959"/>
              </a:buClr>
              <a:buSzPts val="1300"/>
              <a:buFont typeface="Lato"/>
              <a:buNone/>
              <a:tabLst/>
              <a:defRPr/>
            </a:pPr>
            <a:r>
              <a:rPr lang="fr-FR" sz="1700" dirty="0">
                <a:solidFill>
                  <a:srgbClr val="000000"/>
                </a:solidFill>
                <a:latin typeface="Helvetica Neue"/>
                <a:ea typeface="Montserrat"/>
              </a:rPr>
              <a:t> carré puis une baisse à partir de 2020</a:t>
            </a:r>
          </a:p>
          <a:p>
            <a:pPr marL="0" marR="0" lvl="0" indent="0" algn="l" defTabSz="914400" rtl="0" eaLnBrk="1" fontAlgn="auto" latinLnBrk="0" hangingPunct="1">
              <a:lnSpc>
                <a:spcPct val="115000"/>
              </a:lnSpc>
              <a:spcBef>
                <a:spcPts val="0"/>
              </a:spcBef>
              <a:spcAft>
                <a:spcPts val="1200"/>
              </a:spcAft>
              <a:buClr>
                <a:srgbClr val="595959"/>
              </a:buClr>
              <a:buSzPts val="1300"/>
              <a:buFont typeface="Lato"/>
              <a:buNone/>
              <a:tabLst/>
              <a:defRPr/>
            </a:pPr>
            <a:r>
              <a:rPr lang="fr-FR" sz="1700" b="0" i="0" dirty="0">
                <a:solidFill>
                  <a:srgbClr val="000000"/>
                </a:solidFill>
                <a:effectLst/>
                <a:latin typeface="Helvetica Neue"/>
              </a:rPr>
              <a:t>Nous allons ajouter à cette visualisation tous les autres</a:t>
            </a:r>
          </a:p>
          <a:p>
            <a:pPr marL="0" marR="0" lvl="0" indent="0" algn="l" defTabSz="914400" rtl="0" eaLnBrk="1" fontAlgn="auto" latinLnBrk="0" hangingPunct="1">
              <a:lnSpc>
                <a:spcPct val="115000"/>
              </a:lnSpc>
              <a:spcBef>
                <a:spcPts val="0"/>
              </a:spcBef>
              <a:spcAft>
                <a:spcPts val="1200"/>
              </a:spcAft>
              <a:buClr>
                <a:srgbClr val="595959"/>
              </a:buClr>
              <a:buSzPts val="1300"/>
              <a:buFont typeface="Lato"/>
              <a:buNone/>
              <a:tabLst/>
              <a:defRPr/>
            </a:pPr>
            <a:r>
              <a:rPr lang="fr-FR" sz="1700" b="0" i="0" dirty="0">
                <a:solidFill>
                  <a:srgbClr val="000000"/>
                </a:solidFill>
                <a:effectLst/>
                <a:latin typeface="Helvetica Neue"/>
              </a:rPr>
              <a:t> arrondissements avec une couleur différente.</a:t>
            </a:r>
            <a:endParaRPr kumimoji="0" lang="fr-FR" sz="1700" b="1" i="1" u="none" strike="noStrike" kern="0" cap="none" spc="0" normalizeH="0" baseline="0" noProof="0" dirty="0">
              <a:ln>
                <a:noFill/>
              </a:ln>
              <a:solidFill>
                <a:srgbClr val="595959"/>
              </a:solidFill>
              <a:effectLst/>
              <a:uLnTx/>
              <a:uFillTx/>
              <a:latin typeface="Montserrat"/>
              <a:ea typeface="Montserrat"/>
              <a:cs typeface="Montserrat"/>
              <a:sym typeface="Montserrat"/>
            </a:endParaRPr>
          </a:p>
          <a:p>
            <a:pPr marL="146050" indent="0">
              <a:buNone/>
            </a:pPr>
            <a:endParaRPr lang="fr-FR" b="1" i="1" dirty="0">
              <a:latin typeface="Montserrat" panose="00000500000000000000" pitchFamily="2" charset="0"/>
            </a:endParaRPr>
          </a:p>
          <a:p>
            <a:pPr marL="146050" indent="0">
              <a:buNone/>
            </a:pPr>
            <a:endParaRPr lang="fr-FR" b="1" i="1" dirty="0">
              <a:latin typeface="Montserrat" panose="00000500000000000000" pitchFamily="2" charset="0"/>
            </a:endParaRPr>
          </a:p>
        </p:txBody>
      </p:sp>
      <p:pic>
        <p:nvPicPr>
          <p:cNvPr id="5" name="Image 4">
            <a:extLst>
              <a:ext uri="{FF2B5EF4-FFF2-40B4-BE49-F238E27FC236}">
                <a16:creationId xmlns:a16="http://schemas.microsoft.com/office/drawing/2014/main" id="{F82F3A40-C5E0-C05F-70F9-FFC6E4AE4C12}"/>
              </a:ext>
            </a:extLst>
          </p:cNvPr>
          <p:cNvPicPr>
            <a:picLocks noChangeAspect="1"/>
          </p:cNvPicPr>
          <p:nvPr/>
        </p:nvPicPr>
        <p:blipFill>
          <a:blip r:embed="rId2"/>
          <a:stretch>
            <a:fillRect/>
          </a:stretch>
        </p:blipFill>
        <p:spPr>
          <a:xfrm>
            <a:off x="5407025" y="1507750"/>
            <a:ext cx="3612768" cy="3635750"/>
          </a:xfrm>
          <a:prstGeom prst="rect">
            <a:avLst/>
          </a:prstGeom>
        </p:spPr>
      </p:pic>
    </p:spTree>
    <p:extLst>
      <p:ext uri="{BB962C8B-B14F-4D97-AF65-F5344CB8AC3E}">
        <p14:creationId xmlns:p14="http://schemas.microsoft.com/office/powerpoint/2010/main" val="1686465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C4E79CB6-DFB1-6EB2-EA9A-70E9E6CFCD50}"/>
              </a:ext>
            </a:extLst>
          </p:cNvPr>
          <p:cNvSpPr>
            <a:spLocks noGrp="1"/>
          </p:cNvSpPr>
          <p:nvPr>
            <p:ph type="body" idx="1"/>
          </p:nvPr>
        </p:nvSpPr>
        <p:spPr/>
        <p:txBody>
          <a:bodyPr/>
          <a:lstStyle/>
          <a:p>
            <a:r>
              <a:rPr lang="fr-FR" b="0" i="0" dirty="0">
                <a:solidFill>
                  <a:srgbClr val="000000"/>
                </a:solidFill>
                <a:effectLst/>
                <a:latin typeface="Helvetica Neue"/>
              </a:rPr>
              <a:t>On observe que globalement après</a:t>
            </a:r>
          </a:p>
          <a:p>
            <a:pPr marL="146050" indent="0">
              <a:buNone/>
            </a:pPr>
            <a:r>
              <a:rPr lang="fr-FR" b="0" i="0" dirty="0">
                <a:solidFill>
                  <a:srgbClr val="000000"/>
                </a:solidFill>
                <a:effectLst/>
                <a:latin typeface="Helvetica Neue"/>
              </a:rPr>
              <a:t> 2020 le prix du m2 fini par baisser</a:t>
            </a:r>
          </a:p>
          <a:p>
            <a:pPr marL="146050" indent="0">
              <a:buNone/>
            </a:pPr>
            <a:r>
              <a:rPr lang="fr-FR" b="0" i="0" dirty="0">
                <a:solidFill>
                  <a:srgbClr val="000000"/>
                </a:solidFill>
                <a:effectLst/>
                <a:latin typeface="Helvetica Neue"/>
              </a:rPr>
              <a:t> après une augmentation de 3 ans</a:t>
            </a:r>
            <a:endParaRPr lang="fr-FR" dirty="0"/>
          </a:p>
        </p:txBody>
      </p:sp>
      <p:pic>
        <p:nvPicPr>
          <p:cNvPr id="5" name="Image 4">
            <a:extLst>
              <a:ext uri="{FF2B5EF4-FFF2-40B4-BE49-F238E27FC236}">
                <a16:creationId xmlns:a16="http://schemas.microsoft.com/office/drawing/2014/main" id="{8AB95D63-83AB-38E2-7393-93AD2DCDD37C}"/>
              </a:ext>
            </a:extLst>
          </p:cNvPr>
          <p:cNvPicPr>
            <a:picLocks noChangeAspect="1"/>
          </p:cNvPicPr>
          <p:nvPr/>
        </p:nvPicPr>
        <p:blipFill>
          <a:blip r:embed="rId2"/>
          <a:stretch>
            <a:fillRect/>
          </a:stretch>
        </p:blipFill>
        <p:spPr>
          <a:xfrm>
            <a:off x="4102100" y="299496"/>
            <a:ext cx="4988372" cy="4844004"/>
          </a:xfrm>
          <a:prstGeom prst="rect">
            <a:avLst/>
          </a:prstGeom>
        </p:spPr>
      </p:pic>
    </p:spTree>
    <p:extLst>
      <p:ext uri="{BB962C8B-B14F-4D97-AF65-F5344CB8AC3E}">
        <p14:creationId xmlns:p14="http://schemas.microsoft.com/office/powerpoint/2010/main" val="2197525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2FC84FA5-40B5-0CB7-C59A-101A393FBEC1}"/>
              </a:ext>
            </a:extLst>
          </p:cNvPr>
          <p:cNvSpPr>
            <a:spLocks noGrp="1"/>
          </p:cNvSpPr>
          <p:nvPr>
            <p:ph type="body" idx="1"/>
          </p:nvPr>
        </p:nvSpPr>
        <p:spPr>
          <a:xfrm>
            <a:off x="-76200" y="1218450"/>
            <a:ext cx="4892675" cy="2261100"/>
          </a:xfrm>
        </p:spPr>
        <p:txBody>
          <a:bodyPr>
            <a:normAutofit fontScale="85000" lnSpcReduction="20000"/>
          </a:bodyPr>
          <a:lstStyle/>
          <a:p>
            <a:pPr marL="146050" indent="0">
              <a:buNone/>
            </a:pPr>
            <a:r>
              <a:rPr lang="fr-FR" b="1" i="1" dirty="0">
                <a:latin typeface="Montserrat" panose="00000500000000000000" pitchFamily="2" charset="0"/>
              </a:rPr>
              <a:t>Prix au mètre carré par transaction dans le 6 </a:t>
            </a:r>
            <a:r>
              <a:rPr lang="fr-FR" b="1" i="1" dirty="0" err="1">
                <a:latin typeface="Montserrat" panose="00000500000000000000" pitchFamily="2" charset="0"/>
              </a:rPr>
              <a:t>ème</a:t>
            </a:r>
            <a:r>
              <a:rPr lang="fr-FR" b="1" i="1" dirty="0">
                <a:latin typeface="Montserrat" panose="00000500000000000000" pitchFamily="2" charset="0"/>
              </a:rPr>
              <a:t> arrondissement</a:t>
            </a:r>
          </a:p>
          <a:p>
            <a:pPr marL="146050" indent="0">
              <a:buNone/>
            </a:pPr>
            <a:endParaRPr lang="fr-FR" b="1" i="1" dirty="0">
              <a:latin typeface="Montserrat" panose="00000500000000000000" pitchFamily="2" charset="0"/>
            </a:endParaRPr>
          </a:p>
          <a:p>
            <a:pPr marL="146050" indent="0">
              <a:buNone/>
            </a:pPr>
            <a:endParaRPr lang="fr-FR" dirty="0">
              <a:solidFill>
                <a:srgbClr val="000000"/>
              </a:solidFill>
              <a:latin typeface="Helvetica Neue"/>
            </a:endParaRPr>
          </a:p>
          <a:p>
            <a:pPr marL="146050" indent="0">
              <a:buNone/>
            </a:pPr>
            <a:r>
              <a:rPr lang="fr-FR" dirty="0">
                <a:solidFill>
                  <a:srgbClr val="000000"/>
                </a:solidFill>
                <a:latin typeface="Helvetica Neue"/>
              </a:rPr>
              <a:t>On observe 709 transactions dans</a:t>
            </a:r>
          </a:p>
          <a:p>
            <a:pPr marL="146050" indent="0">
              <a:buNone/>
            </a:pPr>
            <a:r>
              <a:rPr lang="fr-FR" dirty="0">
                <a:solidFill>
                  <a:srgbClr val="000000"/>
                </a:solidFill>
                <a:latin typeface="Helvetica Neue"/>
              </a:rPr>
              <a:t> le 6eme arrondissement</a:t>
            </a:r>
          </a:p>
          <a:p>
            <a:pPr marL="146050" indent="0">
              <a:buNone/>
            </a:pPr>
            <a:endParaRPr lang="fr-FR" dirty="0">
              <a:solidFill>
                <a:srgbClr val="000000"/>
              </a:solidFill>
              <a:latin typeface="Helvetica Neue"/>
            </a:endParaRPr>
          </a:p>
          <a:p>
            <a:pPr algn="l">
              <a:buNone/>
            </a:pPr>
            <a:r>
              <a:rPr lang="fr-FR" dirty="0">
                <a:solidFill>
                  <a:srgbClr val="000000"/>
                </a:solidFill>
                <a:latin typeface="Helvetica Neue"/>
              </a:rPr>
              <a:t>Le </a:t>
            </a:r>
            <a:r>
              <a:rPr lang="fr-FR" dirty="0" err="1">
                <a:solidFill>
                  <a:srgbClr val="000000"/>
                </a:solidFill>
                <a:latin typeface="Helvetica Neue"/>
              </a:rPr>
              <a:t>scatter</a:t>
            </a:r>
            <a:r>
              <a:rPr lang="fr-FR" dirty="0">
                <a:solidFill>
                  <a:srgbClr val="000000"/>
                </a:solidFill>
                <a:latin typeface="Helvetica Neue"/>
              </a:rPr>
              <a:t> plot montre une </a:t>
            </a:r>
            <a:r>
              <a:rPr lang="fr-FR" b="0" i="0" dirty="0">
                <a:solidFill>
                  <a:srgbClr val="000000"/>
                </a:solidFill>
                <a:effectLst/>
                <a:latin typeface="Helvetica Neue"/>
              </a:rPr>
              <a:t>concentration plus faible de transaction à partir de 2020 et que le prix tourne autour de 14000 euros par m2</a:t>
            </a:r>
          </a:p>
          <a:p>
            <a:pPr algn="l">
              <a:buNone/>
            </a:pPr>
            <a:endParaRPr lang="fr-FR" b="0" i="0" dirty="0">
              <a:solidFill>
                <a:srgbClr val="000000"/>
              </a:solidFill>
              <a:effectLst/>
              <a:latin typeface="Helvetica Neue"/>
            </a:endParaRPr>
          </a:p>
          <a:p>
            <a:pPr algn="l">
              <a:buNone/>
            </a:pPr>
            <a:r>
              <a:rPr lang="fr-FR" b="0" i="0" dirty="0">
                <a:solidFill>
                  <a:srgbClr val="000000"/>
                </a:solidFill>
                <a:effectLst/>
                <a:latin typeface="Helvetica Neue"/>
              </a:rPr>
              <a:t>Pour nous rassurer sur la relation entre les données nous allons utiliser un test statistique de corrélation.</a:t>
            </a:r>
          </a:p>
          <a:p>
            <a:pPr marL="146050" indent="0">
              <a:buNone/>
            </a:pPr>
            <a:endParaRPr lang="fr-FR" dirty="0">
              <a:solidFill>
                <a:srgbClr val="000000"/>
              </a:solidFill>
              <a:latin typeface="Helvetica Neue"/>
            </a:endParaRPr>
          </a:p>
          <a:p>
            <a:pPr marL="146050" indent="0">
              <a:buNone/>
            </a:pPr>
            <a:endParaRPr lang="fr-FR" dirty="0">
              <a:latin typeface="Montserrat" panose="00000500000000000000" pitchFamily="2" charset="0"/>
            </a:endParaRPr>
          </a:p>
        </p:txBody>
      </p:sp>
      <p:pic>
        <p:nvPicPr>
          <p:cNvPr id="5" name="Image 4">
            <a:extLst>
              <a:ext uri="{FF2B5EF4-FFF2-40B4-BE49-F238E27FC236}">
                <a16:creationId xmlns:a16="http://schemas.microsoft.com/office/drawing/2014/main" id="{AA4BC024-D15F-5CE1-B953-593F53989CE2}"/>
              </a:ext>
            </a:extLst>
          </p:cNvPr>
          <p:cNvPicPr>
            <a:picLocks noChangeAspect="1"/>
          </p:cNvPicPr>
          <p:nvPr/>
        </p:nvPicPr>
        <p:blipFill>
          <a:blip r:embed="rId2"/>
          <a:stretch>
            <a:fillRect/>
          </a:stretch>
        </p:blipFill>
        <p:spPr>
          <a:xfrm>
            <a:off x="4728662" y="587375"/>
            <a:ext cx="4415338" cy="4330700"/>
          </a:xfrm>
          <a:prstGeom prst="rect">
            <a:avLst/>
          </a:prstGeom>
        </p:spPr>
      </p:pic>
    </p:spTree>
    <p:extLst>
      <p:ext uri="{BB962C8B-B14F-4D97-AF65-F5344CB8AC3E}">
        <p14:creationId xmlns:p14="http://schemas.microsoft.com/office/powerpoint/2010/main" val="1568868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FB723975-FA13-7F05-470D-B29CE62CBAA0}"/>
              </a:ext>
            </a:extLst>
          </p:cNvPr>
          <p:cNvSpPr>
            <a:spLocks noGrp="1"/>
          </p:cNvSpPr>
          <p:nvPr>
            <p:ph type="body" idx="1"/>
          </p:nvPr>
        </p:nvSpPr>
        <p:spPr>
          <a:xfrm>
            <a:off x="0" y="1158124"/>
            <a:ext cx="7688700" cy="3912351"/>
          </a:xfrm>
        </p:spPr>
        <p:txBody>
          <a:bodyPr>
            <a:normAutofit/>
          </a:bodyPr>
          <a:lstStyle/>
          <a:p>
            <a:r>
              <a:rPr lang="fr-FR" b="1" i="1" dirty="0">
                <a:latin typeface="Montserrat" panose="00000500000000000000" pitchFamily="2" charset="0"/>
              </a:rPr>
              <a:t>Vérification de la relation entre le prix au m² et la date dans le 6ème arrondissement par le calcul du coefficient de corrélation de Pearson</a:t>
            </a:r>
          </a:p>
          <a:p>
            <a:endParaRPr lang="fr-FR" b="1" i="1" dirty="0">
              <a:latin typeface="Montserrat" panose="00000500000000000000" pitchFamily="2" charset="0"/>
            </a:endParaRPr>
          </a:p>
          <a:p>
            <a:pPr marL="146050" indent="0">
              <a:buNone/>
            </a:pPr>
            <a:r>
              <a:rPr lang="fr-FR" sz="1100" b="0" i="0" dirty="0">
                <a:solidFill>
                  <a:srgbClr val="000000"/>
                </a:solidFill>
                <a:effectLst/>
                <a:latin typeface="Helvetica Neue"/>
              </a:rPr>
              <a:t>Pour cette distribution nous allons calculer le coefficient de corrélation de Pearson.</a:t>
            </a:r>
          </a:p>
          <a:p>
            <a:pPr marL="146050" indent="0">
              <a:buNone/>
            </a:pPr>
            <a:r>
              <a:rPr lang="fr-FR" sz="1100" b="0" i="0" dirty="0">
                <a:solidFill>
                  <a:srgbClr val="000000"/>
                </a:solidFill>
                <a:effectLst/>
                <a:latin typeface="Helvetica Neue"/>
              </a:rPr>
              <a:t>La relation entre le prix au mètre carré et la date n'est pas forcément linéaire mais elle</a:t>
            </a:r>
          </a:p>
          <a:p>
            <a:pPr marL="146050" indent="0">
              <a:buNone/>
            </a:pPr>
            <a:r>
              <a:rPr lang="fr-FR" sz="1100" b="0" i="0" dirty="0">
                <a:solidFill>
                  <a:srgbClr val="000000"/>
                </a:solidFill>
                <a:effectLst/>
                <a:latin typeface="Helvetica Neue"/>
              </a:rPr>
              <a:t>s'en rapproche suffisamment pour que cette analyse soit pertinente . </a:t>
            </a:r>
          </a:p>
          <a:p>
            <a:pPr marL="146050" indent="0">
              <a:buNone/>
            </a:pPr>
            <a:r>
              <a:rPr lang="fr-FR" sz="1100" b="0" i="0" dirty="0">
                <a:solidFill>
                  <a:srgbClr val="000000"/>
                </a:solidFill>
                <a:effectLst/>
                <a:latin typeface="Helvetica Neue"/>
              </a:rPr>
              <a:t>Ce qui nous intéresse c'est de prouver que le temps a une influence sur le prix.</a:t>
            </a:r>
          </a:p>
          <a:p>
            <a:pPr marL="146050" indent="0">
              <a:buNone/>
            </a:pPr>
            <a:endParaRPr lang="fr-FR" sz="1100" dirty="0">
              <a:solidFill>
                <a:srgbClr val="000000"/>
              </a:solidFill>
              <a:latin typeface="Helvetica Neue"/>
            </a:endParaRPr>
          </a:p>
          <a:p>
            <a:pPr marL="146050" indent="0">
              <a:buNone/>
            </a:pPr>
            <a:endParaRPr lang="fr-FR" sz="1100" b="1" i="1" dirty="0">
              <a:solidFill>
                <a:srgbClr val="000000"/>
              </a:solidFill>
              <a:latin typeface="Helvetica Neue"/>
            </a:endParaRPr>
          </a:p>
          <a:p>
            <a:pPr marL="146050" indent="0">
              <a:buNone/>
            </a:pPr>
            <a:endParaRPr lang="fr-FR" sz="1100" b="1" i="1" dirty="0">
              <a:solidFill>
                <a:srgbClr val="000000"/>
              </a:solidFill>
              <a:latin typeface="Helvetica Neue"/>
            </a:endParaRPr>
          </a:p>
          <a:p>
            <a:pPr marL="146050" indent="0">
              <a:buNone/>
            </a:pPr>
            <a:endParaRPr lang="fr-FR" sz="1100" b="1" i="1" dirty="0">
              <a:solidFill>
                <a:srgbClr val="000000"/>
              </a:solidFill>
              <a:latin typeface="Helvetica Neue"/>
            </a:endParaRPr>
          </a:p>
          <a:p>
            <a:pPr marL="146050" indent="0">
              <a:buNone/>
            </a:pPr>
            <a:endParaRPr lang="fr-FR" sz="1100" b="1" i="1" dirty="0">
              <a:solidFill>
                <a:srgbClr val="000000"/>
              </a:solidFill>
              <a:latin typeface="Helvetica Neue"/>
            </a:endParaRPr>
          </a:p>
          <a:p>
            <a:pPr marL="146050" indent="0">
              <a:buNone/>
            </a:pPr>
            <a:endParaRPr lang="fr-FR" sz="1100" b="1" i="1" dirty="0">
              <a:solidFill>
                <a:srgbClr val="000000"/>
              </a:solidFill>
              <a:latin typeface="Helvetica Neue"/>
            </a:endParaRPr>
          </a:p>
          <a:p>
            <a:pPr marL="146050" indent="0">
              <a:buNone/>
            </a:pPr>
            <a:endParaRPr lang="fr-FR" sz="1100" b="0" i="0" dirty="0">
              <a:solidFill>
                <a:srgbClr val="000000"/>
              </a:solidFill>
              <a:effectLst/>
              <a:latin typeface="Helvetica Neue"/>
            </a:endParaRPr>
          </a:p>
          <a:p>
            <a:pPr marL="146050" indent="0">
              <a:buNone/>
            </a:pPr>
            <a:endParaRPr lang="fr-FR" sz="1100" dirty="0">
              <a:solidFill>
                <a:srgbClr val="000000"/>
              </a:solidFill>
              <a:latin typeface="Helvetica Neue"/>
            </a:endParaRPr>
          </a:p>
          <a:p>
            <a:pPr marL="146050" indent="0">
              <a:buNone/>
            </a:pPr>
            <a:r>
              <a:rPr lang="fr-FR" sz="1100" b="0" i="0" dirty="0">
                <a:solidFill>
                  <a:srgbClr val="000000"/>
                </a:solidFill>
                <a:effectLst/>
                <a:latin typeface="Helvetica Neue"/>
              </a:rPr>
              <a:t>Un coefficient de corrélation de Pearson de 0.8916 indique une très forte corrélation positive entre deux </a:t>
            </a:r>
            <a:r>
              <a:rPr lang="fr-FR" sz="1100" b="0" i="0" dirty="0" err="1">
                <a:solidFill>
                  <a:srgbClr val="000000"/>
                </a:solidFill>
                <a:effectLst/>
                <a:latin typeface="Helvetica Neue"/>
              </a:rPr>
              <a:t>variables,Cela</a:t>
            </a:r>
            <a:r>
              <a:rPr lang="fr-FR" sz="1100" b="0" i="0" dirty="0">
                <a:solidFill>
                  <a:srgbClr val="000000"/>
                </a:solidFill>
                <a:effectLst/>
                <a:latin typeface="Helvetica Neue"/>
              </a:rPr>
              <a:t> signifie que plus le temps avance, plus le prix au m² augmente dans le 6e arrondissement.</a:t>
            </a:r>
            <a:endParaRPr lang="fr-FR" sz="1100" b="1" i="1" dirty="0">
              <a:latin typeface="Montserrat" panose="00000500000000000000" pitchFamily="2" charset="0"/>
            </a:endParaRPr>
          </a:p>
          <a:p>
            <a:pPr marL="146050" indent="0">
              <a:buNone/>
            </a:pPr>
            <a:endParaRPr lang="fr-FR" b="1" i="1" dirty="0">
              <a:latin typeface="Montserrat" panose="00000500000000000000" pitchFamily="2" charset="0"/>
            </a:endParaRPr>
          </a:p>
        </p:txBody>
      </p:sp>
      <p:pic>
        <p:nvPicPr>
          <p:cNvPr id="5" name="Image 4">
            <a:extLst>
              <a:ext uri="{FF2B5EF4-FFF2-40B4-BE49-F238E27FC236}">
                <a16:creationId xmlns:a16="http://schemas.microsoft.com/office/drawing/2014/main" id="{4F88A68C-D52D-7F1F-9425-1190698C90A1}"/>
              </a:ext>
            </a:extLst>
          </p:cNvPr>
          <p:cNvPicPr>
            <a:picLocks noChangeAspect="1"/>
          </p:cNvPicPr>
          <p:nvPr/>
        </p:nvPicPr>
        <p:blipFill>
          <a:blip r:embed="rId2"/>
          <a:stretch>
            <a:fillRect/>
          </a:stretch>
        </p:blipFill>
        <p:spPr>
          <a:xfrm>
            <a:off x="5403850" y="2508140"/>
            <a:ext cx="3435350" cy="1535018"/>
          </a:xfrm>
          <a:prstGeom prst="rect">
            <a:avLst/>
          </a:prstGeom>
        </p:spPr>
      </p:pic>
    </p:spTree>
    <p:extLst>
      <p:ext uri="{BB962C8B-B14F-4D97-AF65-F5344CB8AC3E}">
        <p14:creationId xmlns:p14="http://schemas.microsoft.com/office/powerpoint/2010/main" val="3124186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333EC371-566F-9885-EB40-88FF2E269AFE}"/>
              </a:ext>
            </a:extLst>
          </p:cNvPr>
          <p:cNvSpPr>
            <a:spLocks noGrp="1"/>
          </p:cNvSpPr>
          <p:nvPr>
            <p:ph type="body" idx="1"/>
          </p:nvPr>
        </p:nvSpPr>
        <p:spPr>
          <a:xfrm>
            <a:off x="0" y="1253375"/>
            <a:ext cx="7688700" cy="2261100"/>
          </a:xfrm>
        </p:spPr>
        <p:txBody>
          <a:bodyPr/>
          <a:lstStyle/>
          <a:p>
            <a:r>
              <a:rPr lang="fr-FR" b="1" i="1" dirty="0">
                <a:latin typeface="Montserrat" panose="00000500000000000000" pitchFamily="2" charset="0"/>
              </a:rPr>
              <a:t>Vérification de la relation entre la valeur foncière et la surface</a:t>
            </a:r>
          </a:p>
          <a:p>
            <a:endParaRPr lang="fr-FR" b="1" i="1" dirty="0">
              <a:latin typeface="Montserrat" panose="00000500000000000000" pitchFamily="2" charset="0"/>
            </a:endParaRPr>
          </a:p>
          <a:p>
            <a:endParaRPr lang="fr-FR" b="1" i="1" dirty="0">
              <a:latin typeface="Montserrat" panose="00000500000000000000" pitchFamily="2" charset="0"/>
            </a:endParaRPr>
          </a:p>
          <a:p>
            <a:pPr algn="l" rtl="0">
              <a:buNone/>
            </a:pPr>
            <a:r>
              <a:rPr lang="fr-FR" b="0" i="0" dirty="0">
                <a:solidFill>
                  <a:srgbClr val="000000"/>
                </a:solidFill>
                <a:effectLst/>
                <a:latin typeface="Helvetica Neue"/>
              </a:rPr>
              <a:t>Le coefficient de corrélation est de 0.9978 avec une </a:t>
            </a:r>
            <a:r>
              <a:rPr lang="fr-FR" b="0" i="0" dirty="0" err="1">
                <a:solidFill>
                  <a:srgbClr val="000000"/>
                </a:solidFill>
                <a:effectLst/>
                <a:latin typeface="Helvetica Neue"/>
              </a:rPr>
              <a:t>pvalue</a:t>
            </a:r>
            <a:r>
              <a:rPr lang="fr-FR" b="0" i="0" dirty="0">
                <a:solidFill>
                  <a:srgbClr val="000000"/>
                </a:solidFill>
                <a:effectLst/>
                <a:latin typeface="Helvetica Neue"/>
              </a:rPr>
              <a:t> de 0 .</a:t>
            </a:r>
          </a:p>
          <a:p>
            <a:pPr algn="l" rtl="0">
              <a:buNone/>
            </a:pPr>
            <a:r>
              <a:rPr lang="fr-FR" b="0" i="0" dirty="0">
                <a:solidFill>
                  <a:srgbClr val="000000"/>
                </a:solidFill>
                <a:effectLst/>
                <a:latin typeface="Helvetica Neue"/>
              </a:rPr>
              <a:t> La relation est donc confirmée.</a:t>
            </a:r>
          </a:p>
          <a:p>
            <a:pPr algn="l" rtl="0">
              <a:buNone/>
            </a:pPr>
            <a:r>
              <a:rPr lang="fr-FR" b="0" i="0" dirty="0">
                <a:solidFill>
                  <a:srgbClr val="000000"/>
                </a:solidFill>
                <a:effectLst/>
                <a:latin typeface="Helvetica Neue"/>
              </a:rPr>
              <a:t>Regardons maintenant si le type de bien à une influence</a:t>
            </a:r>
          </a:p>
          <a:p>
            <a:pPr algn="l" rtl="0">
              <a:buNone/>
            </a:pPr>
            <a:r>
              <a:rPr lang="fr-FR" b="0" i="0" dirty="0">
                <a:solidFill>
                  <a:srgbClr val="000000"/>
                </a:solidFill>
                <a:effectLst/>
                <a:latin typeface="Helvetica Neue"/>
              </a:rPr>
              <a:t> sur le prix au mètre carré également.</a:t>
            </a:r>
          </a:p>
          <a:p>
            <a:pPr marL="146050" indent="0">
              <a:buNone/>
            </a:pPr>
            <a:endParaRPr lang="fr-FR" b="1" i="1" dirty="0">
              <a:latin typeface="Montserrat" panose="00000500000000000000" pitchFamily="2" charset="0"/>
            </a:endParaRPr>
          </a:p>
          <a:p>
            <a:pPr marL="146050" indent="0">
              <a:buNone/>
            </a:pPr>
            <a:endParaRPr lang="fr-FR" b="1" i="1" dirty="0">
              <a:latin typeface="Montserrat" panose="00000500000000000000" pitchFamily="2" charset="0"/>
            </a:endParaRPr>
          </a:p>
        </p:txBody>
      </p:sp>
      <p:pic>
        <p:nvPicPr>
          <p:cNvPr id="7" name="Image 6">
            <a:extLst>
              <a:ext uri="{FF2B5EF4-FFF2-40B4-BE49-F238E27FC236}">
                <a16:creationId xmlns:a16="http://schemas.microsoft.com/office/drawing/2014/main" id="{2D484298-73C9-1A47-FB21-2B1E4B5DAFEC}"/>
              </a:ext>
            </a:extLst>
          </p:cNvPr>
          <p:cNvPicPr>
            <a:picLocks noChangeAspect="1"/>
          </p:cNvPicPr>
          <p:nvPr/>
        </p:nvPicPr>
        <p:blipFill>
          <a:blip r:embed="rId2"/>
          <a:stretch>
            <a:fillRect/>
          </a:stretch>
        </p:blipFill>
        <p:spPr>
          <a:xfrm>
            <a:off x="4451510" y="2908768"/>
            <a:ext cx="4352925" cy="1622753"/>
          </a:xfrm>
          <a:prstGeom prst="rect">
            <a:avLst/>
          </a:prstGeom>
        </p:spPr>
      </p:pic>
    </p:spTree>
    <p:extLst>
      <p:ext uri="{BB962C8B-B14F-4D97-AF65-F5344CB8AC3E}">
        <p14:creationId xmlns:p14="http://schemas.microsoft.com/office/powerpoint/2010/main" val="2821124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7CF48550-508E-D54D-18A8-08FCF284CB09}"/>
              </a:ext>
            </a:extLst>
          </p:cNvPr>
          <p:cNvSpPr>
            <a:spLocks noGrp="1"/>
          </p:cNvSpPr>
          <p:nvPr>
            <p:ph type="body" idx="1"/>
          </p:nvPr>
        </p:nvSpPr>
        <p:spPr>
          <a:xfrm>
            <a:off x="110325" y="1170825"/>
            <a:ext cx="7688700" cy="2261100"/>
          </a:xfrm>
        </p:spPr>
        <p:txBody>
          <a:bodyPr>
            <a:normAutofit fontScale="85000" lnSpcReduction="20000"/>
          </a:bodyPr>
          <a:lstStyle/>
          <a:p>
            <a:r>
              <a:rPr lang="fr-FR" sz="1500" b="1" i="1" dirty="0">
                <a:latin typeface="Montserrat" panose="00000500000000000000" pitchFamily="2" charset="0"/>
              </a:rPr>
              <a:t>Analyse des locaux industriels, commerciaux et assimilés</a:t>
            </a:r>
          </a:p>
          <a:p>
            <a:endParaRPr lang="fr-FR" b="1" i="1" dirty="0">
              <a:latin typeface="Montserrat" panose="00000500000000000000" pitchFamily="2" charset="0"/>
            </a:endParaRPr>
          </a:p>
          <a:p>
            <a:pPr marL="146050" indent="0">
              <a:buNone/>
            </a:pPr>
            <a:r>
              <a:rPr lang="fr-FR" b="0" i="0" dirty="0">
                <a:solidFill>
                  <a:srgbClr val="000000"/>
                </a:solidFill>
                <a:effectLst/>
                <a:latin typeface="Helvetica Neue"/>
              </a:rPr>
              <a:t>Le prix au mètre carré des locaux commerciaux est largement</a:t>
            </a:r>
          </a:p>
          <a:p>
            <a:pPr marL="146050" indent="0">
              <a:buNone/>
            </a:pPr>
            <a:r>
              <a:rPr lang="fr-FR" b="0" i="0" dirty="0">
                <a:solidFill>
                  <a:srgbClr val="000000"/>
                </a:solidFill>
                <a:effectLst/>
                <a:latin typeface="Helvetica Neue"/>
              </a:rPr>
              <a:t> supérieur à celui des appartements</a:t>
            </a:r>
          </a:p>
          <a:p>
            <a:pPr algn="l">
              <a:buNone/>
            </a:pPr>
            <a:r>
              <a:rPr lang="fr-FR" b="0" i="0" dirty="0">
                <a:solidFill>
                  <a:srgbClr val="000000"/>
                </a:solidFill>
                <a:effectLst/>
                <a:latin typeface="Helvetica Neue"/>
              </a:rPr>
              <a:t>Après ces analyses, nous pouvons conclure que les dimensions</a:t>
            </a:r>
          </a:p>
          <a:p>
            <a:pPr algn="l">
              <a:buNone/>
            </a:pPr>
            <a:r>
              <a:rPr lang="fr-FR" b="0" i="0" dirty="0">
                <a:solidFill>
                  <a:srgbClr val="000000"/>
                </a:solidFill>
                <a:effectLst/>
                <a:latin typeface="Helvetica Neue"/>
              </a:rPr>
              <a:t> à utiliser pour prédire le prix au m² sont :</a:t>
            </a:r>
          </a:p>
          <a:p>
            <a:pPr algn="l">
              <a:spcAft>
                <a:spcPts val="675"/>
              </a:spcAft>
              <a:buFont typeface="Arial" panose="020B0604020202020204" pitchFamily="34" charset="0"/>
              <a:buChar char="•"/>
            </a:pPr>
            <a:r>
              <a:rPr lang="fr-FR" b="0" i="0" dirty="0">
                <a:solidFill>
                  <a:srgbClr val="000000"/>
                </a:solidFill>
                <a:effectLst/>
                <a:latin typeface="Helvetica Neue"/>
              </a:rPr>
              <a:t>la surface du bien immobilier,</a:t>
            </a:r>
          </a:p>
          <a:p>
            <a:pPr algn="l">
              <a:spcAft>
                <a:spcPts val="675"/>
              </a:spcAft>
              <a:buFont typeface="Arial" panose="020B0604020202020204" pitchFamily="34" charset="0"/>
              <a:buChar char="•"/>
            </a:pPr>
            <a:r>
              <a:rPr lang="fr-FR" b="0" i="0" dirty="0">
                <a:solidFill>
                  <a:srgbClr val="000000"/>
                </a:solidFill>
                <a:effectLst/>
                <a:latin typeface="Helvetica Neue"/>
              </a:rPr>
              <a:t>la date considérée,</a:t>
            </a:r>
          </a:p>
          <a:p>
            <a:pPr algn="l">
              <a:spcAft>
                <a:spcPts val="675"/>
              </a:spcAft>
              <a:buFont typeface="Arial" panose="020B0604020202020204" pitchFamily="34" charset="0"/>
              <a:buChar char="•"/>
            </a:pPr>
            <a:r>
              <a:rPr lang="fr-FR" b="0" i="0" dirty="0">
                <a:solidFill>
                  <a:srgbClr val="000000"/>
                </a:solidFill>
                <a:effectLst/>
                <a:latin typeface="Helvetica Neue"/>
              </a:rPr>
              <a:t>la localisation (</a:t>
            </a:r>
            <a:r>
              <a:rPr lang="fr-FR" b="0" i="0" dirty="0" err="1">
                <a:solidFill>
                  <a:srgbClr val="000000"/>
                </a:solidFill>
                <a:effectLst/>
                <a:latin typeface="Helvetica Neue"/>
              </a:rPr>
              <a:t>code_postal</a:t>
            </a:r>
            <a:r>
              <a:rPr lang="fr-FR" b="0" i="0" dirty="0">
                <a:solidFill>
                  <a:srgbClr val="000000"/>
                </a:solidFill>
                <a:effectLst/>
                <a:latin typeface="Helvetica Neue"/>
              </a:rPr>
              <a:t>),</a:t>
            </a:r>
          </a:p>
          <a:p>
            <a:pPr algn="l">
              <a:spcAft>
                <a:spcPts val="675"/>
              </a:spcAft>
              <a:buFont typeface="Arial" panose="020B0604020202020204" pitchFamily="34" charset="0"/>
              <a:buChar char="•"/>
            </a:pPr>
            <a:r>
              <a:rPr lang="fr-FR" b="0" i="0" dirty="0">
                <a:solidFill>
                  <a:srgbClr val="000000"/>
                </a:solidFill>
                <a:effectLst/>
                <a:latin typeface="Helvetica Neue"/>
              </a:rPr>
              <a:t>le type de bien.</a:t>
            </a:r>
          </a:p>
          <a:p>
            <a:pPr marL="146050" indent="0">
              <a:buNone/>
            </a:pPr>
            <a:endParaRPr lang="fr-FR" b="1" i="1" dirty="0">
              <a:latin typeface="Montserrat" panose="00000500000000000000" pitchFamily="2" charset="0"/>
            </a:endParaRPr>
          </a:p>
          <a:p>
            <a:pPr marL="146050" indent="0">
              <a:buNone/>
            </a:pPr>
            <a:endParaRPr lang="fr-FR" dirty="0"/>
          </a:p>
          <a:p>
            <a:pPr marL="146050" indent="0">
              <a:buNone/>
            </a:pPr>
            <a:endParaRPr lang="fr-FR" dirty="0"/>
          </a:p>
          <a:p>
            <a:pPr marL="146050" indent="0">
              <a:buNone/>
            </a:pPr>
            <a:endParaRPr lang="fr-FR" dirty="0"/>
          </a:p>
        </p:txBody>
      </p:sp>
      <p:pic>
        <p:nvPicPr>
          <p:cNvPr id="5" name="Image 4">
            <a:extLst>
              <a:ext uri="{FF2B5EF4-FFF2-40B4-BE49-F238E27FC236}">
                <a16:creationId xmlns:a16="http://schemas.microsoft.com/office/drawing/2014/main" id="{D093E758-C9E7-4DFC-0161-8408A835AD28}"/>
              </a:ext>
            </a:extLst>
          </p:cNvPr>
          <p:cNvPicPr>
            <a:picLocks noChangeAspect="1"/>
          </p:cNvPicPr>
          <p:nvPr/>
        </p:nvPicPr>
        <p:blipFill>
          <a:blip r:embed="rId2"/>
          <a:stretch>
            <a:fillRect/>
          </a:stretch>
        </p:blipFill>
        <p:spPr>
          <a:xfrm>
            <a:off x="5317904" y="1418226"/>
            <a:ext cx="3715771" cy="3725274"/>
          </a:xfrm>
          <a:prstGeom prst="rect">
            <a:avLst/>
          </a:prstGeom>
        </p:spPr>
      </p:pic>
    </p:spTree>
    <p:extLst>
      <p:ext uri="{BB962C8B-B14F-4D97-AF65-F5344CB8AC3E}">
        <p14:creationId xmlns:p14="http://schemas.microsoft.com/office/powerpoint/2010/main" val="3181646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a:latin typeface="Montserrat"/>
                <a:ea typeface="Montserrat"/>
                <a:cs typeface="Montserrat"/>
                <a:sym typeface="Montserrat"/>
              </a:rPr>
              <a:t>II. Méthodologie suivie </a:t>
            </a:r>
            <a:endParaRPr sz="330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None/>
            </a:pPr>
            <a:endParaRPr/>
          </a:p>
        </p:txBody>
      </p:sp>
      <p:sp>
        <p:nvSpPr>
          <p:cNvPr id="105" name="Google Shape;105;p16"/>
          <p:cNvSpPr txBox="1">
            <a:spLocks noGrp="1"/>
          </p:cNvSpPr>
          <p:nvPr>
            <p:ph type="body" idx="1"/>
          </p:nvPr>
        </p:nvSpPr>
        <p:spPr>
          <a:xfrm>
            <a:off x="126200" y="1364825"/>
            <a:ext cx="7688700" cy="2902200"/>
          </a:xfrm>
          <a:prstGeom prst="rect">
            <a:avLst/>
          </a:prstGeom>
        </p:spPr>
        <p:txBody>
          <a:bodyPr spcFirstLastPara="1" wrap="square" lIns="91425" tIns="91425" rIns="91425" bIns="91425" anchor="t" anchorCtr="0">
            <a:normAutofit/>
          </a:bodyPr>
          <a:lstStyle/>
          <a:p>
            <a:pPr algn="l" rtl="0">
              <a:buNone/>
            </a:pPr>
            <a:r>
              <a:rPr lang="fr-FR" b="0" i="0" dirty="0">
                <a:solidFill>
                  <a:srgbClr val="000000"/>
                </a:solidFill>
                <a:effectLst/>
                <a:latin typeface="Helvetica Neue"/>
              </a:rPr>
              <a:t>Dans cette section nous allons maintenant entraîner un algorithme à prédire la valeur </a:t>
            </a:r>
            <a:r>
              <a:rPr lang="fr-FR" b="0" i="0" dirty="0" err="1">
                <a:solidFill>
                  <a:srgbClr val="000000"/>
                </a:solidFill>
                <a:effectLst/>
                <a:latin typeface="Helvetica Neue"/>
              </a:rPr>
              <a:t>fonciere</a:t>
            </a:r>
            <a:r>
              <a:rPr lang="fr-FR" b="0" i="0" dirty="0">
                <a:solidFill>
                  <a:srgbClr val="000000"/>
                </a:solidFill>
                <a:effectLst/>
                <a:latin typeface="Helvetica Neue"/>
              </a:rPr>
              <a:t> d'un bien immobilier. Pour cela nous allons utiliser l'algorithme de régression linéaire.</a:t>
            </a:r>
          </a:p>
          <a:p>
            <a:pPr algn="l" rtl="0">
              <a:buNone/>
            </a:pPr>
            <a:r>
              <a:rPr lang="fr-FR" b="0" i="0" dirty="0">
                <a:solidFill>
                  <a:srgbClr val="000000"/>
                </a:solidFill>
                <a:effectLst/>
                <a:latin typeface="Helvetica Neue"/>
              </a:rPr>
              <a:t>On commence par préparer nos données en transformant les colonnes catégoriques du code postal et du type de local grâce au one hot encoder (</a:t>
            </a:r>
            <a:r>
              <a:rPr lang="fr-FR" b="0" i="0" dirty="0" err="1">
                <a:solidFill>
                  <a:srgbClr val="000000"/>
                </a:solidFill>
                <a:effectLst/>
                <a:latin typeface="Helvetica Neue"/>
              </a:rPr>
              <a:t>sklearn</a:t>
            </a:r>
            <a:r>
              <a:rPr lang="fr-FR" b="0" i="0" dirty="0">
                <a:solidFill>
                  <a:srgbClr val="000000"/>
                </a:solidFill>
                <a:effectLst/>
                <a:latin typeface="Helvetica Neue"/>
              </a:rPr>
              <a:t>) / </a:t>
            </a:r>
            <a:r>
              <a:rPr lang="fr-FR" b="0" i="0" dirty="0" err="1">
                <a:solidFill>
                  <a:srgbClr val="000000"/>
                </a:solidFill>
                <a:effectLst/>
                <a:latin typeface="Helvetica Neue"/>
              </a:rPr>
              <a:t>get_dummies</a:t>
            </a:r>
            <a:r>
              <a:rPr lang="fr-FR" b="0" i="0" dirty="0">
                <a:solidFill>
                  <a:srgbClr val="000000"/>
                </a:solidFill>
                <a:effectLst/>
                <a:latin typeface="Helvetica Neue"/>
              </a:rPr>
              <a:t> (pandas)</a:t>
            </a:r>
          </a:p>
          <a:p>
            <a:pPr marL="0" lvl="0" indent="0" algn="l" rtl="0">
              <a:spcBef>
                <a:spcPts val="1200"/>
              </a:spcBef>
              <a:spcAft>
                <a:spcPts val="1200"/>
              </a:spcAft>
              <a:buNone/>
            </a:pPr>
            <a:endParaRPr dirty="0"/>
          </a:p>
        </p:txBody>
      </p:sp>
      <p:pic>
        <p:nvPicPr>
          <p:cNvPr id="3" name="Image 2">
            <a:extLst>
              <a:ext uri="{FF2B5EF4-FFF2-40B4-BE49-F238E27FC236}">
                <a16:creationId xmlns:a16="http://schemas.microsoft.com/office/drawing/2014/main" id="{6A23283B-E53B-C963-D607-F899918A8411}"/>
              </a:ext>
            </a:extLst>
          </p:cNvPr>
          <p:cNvPicPr>
            <a:picLocks noChangeAspect="1"/>
          </p:cNvPicPr>
          <p:nvPr/>
        </p:nvPicPr>
        <p:blipFill>
          <a:blip r:embed="rId3"/>
          <a:stretch>
            <a:fillRect/>
          </a:stretch>
        </p:blipFill>
        <p:spPr>
          <a:xfrm>
            <a:off x="949324" y="2426500"/>
            <a:ext cx="5146675" cy="9311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D76EC98A-33CB-E31B-A484-F672642BA298}"/>
              </a:ext>
            </a:extLst>
          </p:cNvPr>
          <p:cNvSpPr>
            <a:spLocks noGrp="1"/>
          </p:cNvSpPr>
          <p:nvPr>
            <p:ph type="body" idx="1"/>
          </p:nvPr>
        </p:nvSpPr>
        <p:spPr>
          <a:xfrm>
            <a:off x="250025" y="1234825"/>
            <a:ext cx="7688700" cy="3854700"/>
          </a:xfrm>
        </p:spPr>
        <p:txBody>
          <a:bodyPr>
            <a:normAutofit lnSpcReduction="10000"/>
          </a:bodyPr>
          <a:lstStyle/>
          <a:p>
            <a:r>
              <a:rPr lang="fr-FR" b="0" i="0" dirty="0">
                <a:solidFill>
                  <a:srgbClr val="000000"/>
                </a:solidFill>
                <a:effectLst/>
                <a:latin typeface="Helvetica Neue"/>
              </a:rPr>
              <a:t>On utilise le </a:t>
            </a:r>
            <a:r>
              <a:rPr lang="fr-FR" b="0" i="0" dirty="0" err="1">
                <a:solidFill>
                  <a:srgbClr val="000000"/>
                </a:solidFill>
                <a:effectLst/>
                <a:latin typeface="Helvetica Neue"/>
              </a:rPr>
              <a:t>train_test_split</a:t>
            </a:r>
            <a:r>
              <a:rPr lang="fr-FR" b="0" i="0" dirty="0">
                <a:solidFill>
                  <a:srgbClr val="000000"/>
                </a:solidFill>
                <a:effectLst/>
                <a:latin typeface="Helvetica Neue"/>
              </a:rPr>
              <a:t> pour prélever un tiers de nos données (33%) et les garder de côté. Nous allons entraîner notre algorithme sur le reste des données et puis mesurer notre erreur moyenne en pourcentage de la valeur foncière</a:t>
            </a:r>
          </a:p>
          <a:p>
            <a:endParaRPr lang="fr-FR" dirty="0">
              <a:solidFill>
                <a:srgbClr val="000000"/>
              </a:solidFill>
              <a:latin typeface="Helvetica Neue"/>
            </a:endParaRPr>
          </a:p>
          <a:p>
            <a:pPr algn="l">
              <a:buNone/>
            </a:pPr>
            <a:endParaRPr lang="fr-FR" b="0" i="0" dirty="0">
              <a:solidFill>
                <a:srgbClr val="000000"/>
              </a:solidFill>
              <a:effectLst/>
              <a:latin typeface="Helvetica Neue"/>
            </a:endParaRPr>
          </a:p>
          <a:p>
            <a:pPr algn="l">
              <a:buNone/>
            </a:pPr>
            <a:endParaRPr lang="fr-FR" dirty="0">
              <a:solidFill>
                <a:srgbClr val="000000"/>
              </a:solidFill>
              <a:latin typeface="Helvetica Neue"/>
            </a:endParaRPr>
          </a:p>
          <a:p>
            <a:pPr algn="l">
              <a:buNone/>
            </a:pPr>
            <a:endParaRPr lang="fr-FR" b="0" i="0" dirty="0">
              <a:solidFill>
                <a:srgbClr val="000000"/>
              </a:solidFill>
              <a:effectLst/>
              <a:latin typeface="Helvetica Neue"/>
            </a:endParaRPr>
          </a:p>
          <a:p>
            <a:pPr algn="l">
              <a:buNone/>
            </a:pPr>
            <a:endParaRPr lang="fr-FR" dirty="0">
              <a:solidFill>
                <a:srgbClr val="000000"/>
              </a:solidFill>
              <a:latin typeface="Helvetica Neue"/>
            </a:endParaRPr>
          </a:p>
          <a:p>
            <a:pPr algn="l">
              <a:buNone/>
            </a:pPr>
            <a:endParaRPr lang="fr-FR" b="0" i="0" dirty="0">
              <a:solidFill>
                <a:srgbClr val="000000"/>
              </a:solidFill>
              <a:effectLst/>
              <a:latin typeface="Helvetica Neue"/>
            </a:endParaRPr>
          </a:p>
          <a:p>
            <a:pPr algn="l">
              <a:buNone/>
            </a:pPr>
            <a:endParaRPr lang="fr-FR" dirty="0">
              <a:solidFill>
                <a:srgbClr val="000000"/>
              </a:solidFill>
              <a:latin typeface="Helvetica Neue"/>
            </a:endParaRPr>
          </a:p>
          <a:p>
            <a:pPr algn="l">
              <a:buNone/>
            </a:pPr>
            <a:r>
              <a:rPr lang="fr-FR" b="0" i="0" dirty="0">
                <a:solidFill>
                  <a:srgbClr val="000000"/>
                </a:solidFill>
                <a:effectLst/>
                <a:latin typeface="Helvetica Neue"/>
              </a:rPr>
              <a:t>Notre algorithme fait donc 9.53 % d'erreur en moyenne</a:t>
            </a:r>
          </a:p>
          <a:p>
            <a:pPr algn="l">
              <a:buNone/>
            </a:pPr>
            <a:r>
              <a:rPr lang="fr-FR" b="0" i="0" dirty="0">
                <a:solidFill>
                  <a:srgbClr val="000000"/>
                </a:solidFill>
                <a:effectLst/>
                <a:latin typeface="Helvetica Neue"/>
              </a:rPr>
              <a:t> sur la prédiction de la valeur foncière.</a:t>
            </a:r>
          </a:p>
          <a:p>
            <a:pPr algn="l">
              <a:buNone/>
            </a:pPr>
            <a:r>
              <a:rPr lang="fr-FR" b="0" i="0" dirty="0">
                <a:solidFill>
                  <a:srgbClr val="000000"/>
                </a:solidFill>
                <a:effectLst/>
                <a:latin typeface="Helvetica Neue"/>
              </a:rPr>
              <a:t>Mes conclusions sur ce résultat et comment</a:t>
            </a:r>
          </a:p>
          <a:p>
            <a:pPr algn="l">
              <a:buNone/>
            </a:pPr>
            <a:r>
              <a:rPr lang="fr-FR" b="0" i="0" dirty="0">
                <a:solidFill>
                  <a:srgbClr val="000000"/>
                </a:solidFill>
                <a:effectLst/>
                <a:latin typeface="Helvetica Neue"/>
              </a:rPr>
              <a:t> j'aurais pu aller plus loin :</a:t>
            </a:r>
          </a:p>
          <a:p>
            <a:pPr marL="146050" indent="0" algn="l">
              <a:spcAft>
                <a:spcPts val="675"/>
              </a:spcAft>
              <a:buNone/>
            </a:pPr>
            <a:r>
              <a:rPr lang="fr-FR" b="0" i="0" dirty="0">
                <a:solidFill>
                  <a:srgbClr val="000000"/>
                </a:solidFill>
                <a:effectLst/>
                <a:latin typeface="Helvetica Neue"/>
              </a:rPr>
              <a:t>-Tester d’autres algorithmes comme </a:t>
            </a:r>
            <a:r>
              <a:rPr lang="fr-FR" b="0" i="0" dirty="0" err="1">
                <a:solidFill>
                  <a:srgbClr val="000000"/>
                </a:solidFill>
                <a:effectLst/>
                <a:latin typeface="Helvetica Neue"/>
              </a:rPr>
              <a:t>Random</a:t>
            </a:r>
            <a:r>
              <a:rPr lang="fr-FR" b="0" i="0" dirty="0">
                <a:solidFill>
                  <a:srgbClr val="000000"/>
                </a:solidFill>
                <a:effectLst/>
                <a:latin typeface="Helvetica Neue"/>
              </a:rPr>
              <a:t> Forest ou Gradient </a:t>
            </a:r>
            <a:r>
              <a:rPr lang="fr-FR" b="0" i="0" dirty="0" err="1">
                <a:solidFill>
                  <a:srgbClr val="000000"/>
                </a:solidFill>
                <a:effectLst/>
                <a:latin typeface="Helvetica Neue"/>
              </a:rPr>
              <a:t>Boosting</a:t>
            </a:r>
            <a:endParaRPr lang="fr-FR" b="0" i="0" dirty="0">
              <a:solidFill>
                <a:srgbClr val="000000"/>
              </a:solidFill>
              <a:effectLst/>
              <a:latin typeface="Helvetica Neue"/>
            </a:endParaRPr>
          </a:p>
          <a:p>
            <a:pPr marL="146050" indent="0" algn="l">
              <a:spcAft>
                <a:spcPts val="675"/>
              </a:spcAft>
              <a:buNone/>
            </a:pPr>
            <a:r>
              <a:rPr lang="fr-FR" b="0" i="0" dirty="0">
                <a:solidFill>
                  <a:srgbClr val="000000"/>
                </a:solidFill>
                <a:effectLst/>
                <a:latin typeface="Helvetica Neue"/>
              </a:rPr>
              <a:t>-Retirer les </a:t>
            </a:r>
            <a:r>
              <a:rPr lang="fr-FR" b="0" i="0" dirty="0" err="1">
                <a:solidFill>
                  <a:srgbClr val="000000"/>
                </a:solidFill>
                <a:effectLst/>
                <a:latin typeface="Helvetica Neue"/>
              </a:rPr>
              <a:t>outliers</a:t>
            </a:r>
            <a:r>
              <a:rPr lang="fr-FR" b="0" i="0" dirty="0">
                <a:solidFill>
                  <a:srgbClr val="000000"/>
                </a:solidFill>
                <a:effectLst/>
                <a:latin typeface="Helvetica Neue"/>
              </a:rPr>
              <a:t> qui faussent la régression</a:t>
            </a:r>
          </a:p>
          <a:p>
            <a:pPr marL="146050" indent="0">
              <a:buNone/>
            </a:pPr>
            <a:endParaRPr lang="fr-FR" dirty="0"/>
          </a:p>
        </p:txBody>
      </p:sp>
      <p:pic>
        <p:nvPicPr>
          <p:cNvPr id="5" name="Image 4">
            <a:extLst>
              <a:ext uri="{FF2B5EF4-FFF2-40B4-BE49-F238E27FC236}">
                <a16:creationId xmlns:a16="http://schemas.microsoft.com/office/drawing/2014/main" id="{6D6CC15A-3965-F1A3-CD81-AAEBB557EF7A}"/>
              </a:ext>
            </a:extLst>
          </p:cNvPr>
          <p:cNvPicPr>
            <a:picLocks noChangeAspect="1"/>
          </p:cNvPicPr>
          <p:nvPr/>
        </p:nvPicPr>
        <p:blipFill>
          <a:blip r:embed="rId2"/>
          <a:stretch>
            <a:fillRect/>
          </a:stretch>
        </p:blipFill>
        <p:spPr>
          <a:xfrm>
            <a:off x="5051425" y="1753809"/>
            <a:ext cx="3949700" cy="1408366"/>
          </a:xfrm>
          <a:prstGeom prst="rect">
            <a:avLst/>
          </a:prstGeom>
        </p:spPr>
      </p:pic>
      <p:pic>
        <p:nvPicPr>
          <p:cNvPr id="9" name="Image 8">
            <a:extLst>
              <a:ext uri="{FF2B5EF4-FFF2-40B4-BE49-F238E27FC236}">
                <a16:creationId xmlns:a16="http://schemas.microsoft.com/office/drawing/2014/main" id="{85780F36-E57C-D12F-747F-7A112D00F0DB}"/>
              </a:ext>
            </a:extLst>
          </p:cNvPr>
          <p:cNvPicPr>
            <a:picLocks noChangeAspect="1"/>
          </p:cNvPicPr>
          <p:nvPr/>
        </p:nvPicPr>
        <p:blipFill>
          <a:blip r:embed="rId3"/>
          <a:stretch>
            <a:fillRect/>
          </a:stretch>
        </p:blipFill>
        <p:spPr>
          <a:xfrm>
            <a:off x="5051425" y="3162175"/>
            <a:ext cx="3037446" cy="650107"/>
          </a:xfrm>
          <a:prstGeom prst="rect">
            <a:avLst/>
          </a:prstGeom>
        </p:spPr>
      </p:pic>
    </p:spTree>
    <p:extLst>
      <p:ext uri="{BB962C8B-B14F-4D97-AF65-F5344CB8AC3E}">
        <p14:creationId xmlns:p14="http://schemas.microsoft.com/office/powerpoint/2010/main" val="3950936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52F05832-4E5E-B0C9-51A1-0B8E717BAE27}"/>
              </a:ext>
            </a:extLst>
          </p:cNvPr>
          <p:cNvSpPr>
            <a:spLocks noGrp="1"/>
          </p:cNvSpPr>
          <p:nvPr>
            <p:ph type="body" idx="1"/>
          </p:nvPr>
        </p:nvSpPr>
        <p:spPr>
          <a:xfrm>
            <a:off x="196050" y="1272425"/>
            <a:ext cx="7688700" cy="2261100"/>
          </a:xfrm>
        </p:spPr>
        <p:txBody>
          <a:bodyPr/>
          <a:lstStyle/>
          <a:p>
            <a:pPr algn="l" rtl="0">
              <a:buNone/>
            </a:pPr>
            <a:r>
              <a:rPr lang="fr-FR" b="0" i="0" dirty="0">
                <a:solidFill>
                  <a:srgbClr val="000000"/>
                </a:solidFill>
                <a:effectLst/>
                <a:latin typeface="Helvetica Neue"/>
              </a:rPr>
              <a:t>Nous avons récupéré le fichier avec le portefeuille des actifs de la société. Nous allons l'importer puis effectuer la prédiction et statuer sur la branche qui, selon notre prédiction, aura le plus de valeur à la date demandée c'est à dire au 31 décembre 2022.</a:t>
            </a:r>
            <a:br>
              <a:rPr lang="fr-FR" b="0" i="0" dirty="0">
                <a:solidFill>
                  <a:srgbClr val="000000"/>
                </a:solidFill>
                <a:effectLst/>
                <a:latin typeface="Helvetica Neue"/>
              </a:rPr>
            </a:br>
            <a:r>
              <a:rPr lang="fr-FR" b="0" i="0" dirty="0">
                <a:solidFill>
                  <a:srgbClr val="000000"/>
                </a:solidFill>
                <a:effectLst/>
                <a:latin typeface="Helvetica Neue"/>
              </a:rPr>
              <a:t>Nous avons la liste des biens immobiliers de l'entreprise. Pour effectuer une prédiction, nous devons mettre ce fichier au même format que le </a:t>
            </a:r>
            <a:r>
              <a:rPr lang="fr-FR" b="0" i="0" dirty="0" err="1">
                <a:solidFill>
                  <a:srgbClr val="000000"/>
                </a:solidFill>
                <a:effectLst/>
                <a:latin typeface="Helvetica Neue"/>
              </a:rPr>
              <a:t>dataframe</a:t>
            </a:r>
            <a:r>
              <a:rPr lang="fr-FR" b="0" i="0" dirty="0">
                <a:solidFill>
                  <a:srgbClr val="000000"/>
                </a:solidFill>
                <a:effectLst/>
                <a:latin typeface="Helvetica Neue"/>
              </a:rPr>
              <a:t> que nous avons utilisé lors de l'entraînement de l'algorithme.</a:t>
            </a:r>
          </a:p>
          <a:p>
            <a:endParaRPr lang="fr-FR" dirty="0"/>
          </a:p>
        </p:txBody>
      </p:sp>
      <p:pic>
        <p:nvPicPr>
          <p:cNvPr id="5" name="Image 4">
            <a:extLst>
              <a:ext uri="{FF2B5EF4-FFF2-40B4-BE49-F238E27FC236}">
                <a16:creationId xmlns:a16="http://schemas.microsoft.com/office/drawing/2014/main" id="{5E630C6F-2D95-3011-53D8-C132612AB33B}"/>
              </a:ext>
            </a:extLst>
          </p:cNvPr>
          <p:cNvPicPr>
            <a:picLocks noChangeAspect="1"/>
          </p:cNvPicPr>
          <p:nvPr/>
        </p:nvPicPr>
        <p:blipFill>
          <a:blip r:embed="rId2"/>
          <a:stretch>
            <a:fillRect/>
          </a:stretch>
        </p:blipFill>
        <p:spPr>
          <a:xfrm>
            <a:off x="3070345" y="2736850"/>
            <a:ext cx="5937130" cy="1898650"/>
          </a:xfrm>
          <a:prstGeom prst="rect">
            <a:avLst/>
          </a:prstGeom>
        </p:spPr>
      </p:pic>
    </p:spTree>
    <p:extLst>
      <p:ext uri="{BB962C8B-B14F-4D97-AF65-F5344CB8AC3E}">
        <p14:creationId xmlns:p14="http://schemas.microsoft.com/office/powerpoint/2010/main" val="2755734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a:latin typeface="Montserrat"/>
                <a:ea typeface="Montserrat"/>
                <a:cs typeface="Montserrat"/>
                <a:sym typeface="Montserrat"/>
              </a:rPr>
              <a:t>III. Résultat des prédictions</a:t>
            </a:r>
            <a:endParaRPr sz="3300">
              <a:latin typeface="Montserrat"/>
              <a:ea typeface="Montserrat"/>
              <a:cs typeface="Montserrat"/>
              <a:sym typeface="Montserrat"/>
            </a:endParaRPr>
          </a:p>
          <a:p>
            <a:pPr marL="0" lvl="0" indent="0" algn="l" rtl="0">
              <a:spcBef>
                <a:spcPts val="0"/>
              </a:spcBef>
              <a:spcAft>
                <a:spcPts val="0"/>
              </a:spcAft>
              <a:buNone/>
            </a:pPr>
            <a:endParaRPr sz="3600"/>
          </a:p>
          <a:p>
            <a:pPr marL="0" lvl="0" indent="0" algn="l" rtl="0">
              <a:spcBef>
                <a:spcPts val="0"/>
              </a:spcBef>
              <a:spcAft>
                <a:spcPts val="0"/>
              </a:spcAft>
              <a:buNone/>
            </a:pPr>
            <a:endParaRPr sz="3600"/>
          </a:p>
          <a:p>
            <a:pPr marL="0" lvl="0" indent="0" algn="l" rtl="0">
              <a:spcBef>
                <a:spcPts val="0"/>
              </a:spcBef>
              <a:spcAft>
                <a:spcPts val="0"/>
              </a:spcAft>
              <a:buNone/>
            </a:pPr>
            <a:endParaRPr/>
          </a:p>
        </p:txBody>
      </p:sp>
      <p:sp>
        <p:nvSpPr>
          <p:cNvPr id="111" name="Google Shape;111;p17"/>
          <p:cNvSpPr txBox="1">
            <a:spLocks noGrp="1"/>
          </p:cNvSpPr>
          <p:nvPr>
            <p:ph type="body" idx="1"/>
          </p:nvPr>
        </p:nvSpPr>
        <p:spPr>
          <a:xfrm>
            <a:off x="402425" y="3063625"/>
            <a:ext cx="7688700" cy="2079875"/>
          </a:xfrm>
          <a:prstGeom prst="rect">
            <a:avLst/>
          </a:prstGeom>
        </p:spPr>
        <p:txBody>
          <a:bodyPr spcFirstLastPara="1" wrap="square" lIns="91425" tIns="91425" rIns="91425" bIns="91425" anchor="t" anchorCtr="0">
            <a:normAutofit lnSpcReduction="10000"/>
          </a:bodyPr>
          <a:lstStyle/>
          <a:p>
            <a:pPr algn="l">
              <a:buNone/>
            </a:pPr>
            <a:r>
              <a:rPr lang="fr-FR" b="0" i="0" dirty="0">
                <a:solidFill>
                  <a:srgbClr val="000000"/>
                </a:solidFill>
                <a:effectLst/>
                <a:latin typeface="Helvetica Neue"/>
              </a:rPr>
              <a:t>Mes conclusions sur le segment avec la plus grande valorisation et sur les limites de cette estimation :</a:t>
            </a:r>
          </a:p>
          <a:p>
            <a:pPr algn="l">
              <a:spcAft>
                <a:spcPts val="675"/>
              </a:spcAft>
              <a:buFont typeface="Arial" panose="020B0604020202020204" pitchFamily="34" charset="0"/>
              <a:buChar char="•"/>
            </a:pPr>
            <a:r>
              <a:rPr lang="fr-FR" b="0" i="0" dirty="0">
                <a:solidFill>
                  <a:srgbClr val="000000"/>
                </a:solidFill>
                <a:effectLst/>
                <a:latin typeface="Helvetica Neue"/>
              </a:rPr>
              <a:t>La différence de valorisation est de 27 millions entre les 2 segments, celui du </a:t>
            </a:r>
            <a:r>
              <a:rPr lang="fr-FR" b="0" i="0" dirty="0" err="1">
                <a:solidFill>
                  <a:srgbClr val="000000"/>
                </a:solidFill>
                <a:effectLst/>
                <a:latin typeface="Helvetica Neue"/>
              </a:rPr>
              <a:t>corporate</a:t>
            </a:r>
            <a:r>
              <a:rPr lang="fr-FR" b="0" i="0" dirty="0">
                <a:solidFill>
                  <a:srgbClr val="000000"/>
                </a:solidFill>
                <a:effectLst/>
                <a:latin typeface="Helvetica Neue"/>
              </a:rPr>
              <a:t> est le plus élevé mais étant donné la marge d'erreur de 9.53%, cette dernière ne peut pas </a:t>
            </a:r>
            <a:r>
              <a:rPr lang="fr-FR" b="0" i="0" dirty="0" err="1">
                <a:solidFill>
                  <a:srgbClr val="000000"/>
                </a:solidFill>
                <a:effectLst/>
                <a:latin typeface="Helvetica Neue"/>
              </a:rPr>
              <a:t>etre</a:t>
            </a:r>
            <a:r>
              <a:rPr lang="fr-FR" b="0" i="0" dirty="0">
                <a:solidFill>
                  <a:srgbClr val="000000"/>
                </a:solidFill>
                <a:effectLst/>
                <a:latin typeface="Helvetica Neue"/>
              </a:rPr>
              <a:t> ignorée.</a:t>
            </a:r>
          </a:p>
          <a:p>
            <a:pPr algn="l">
              <a:spcAft>
                <a:spcPts val="675"/>
              </a:spcAft>
              <a:buFont typeface="Arial" panose="020B0604020202020204" pitchFamily="34" charset="0"/>
              <a:buChar char="•"/>
            </a:pPr>
            <a:r>
              <a:rPr lang="fr-FR" b="0" i="0" dirty="0">
                <a:solidFill>
                  <a:srgbClr val="000000"/>
                </a:solidFill>
                <a:effectLst/>
                <a:latin typeface="Helvetica Neue"/>
              </a:rPr>
              <a:t>Le modèle a été entrainé sur des données entre 2017 et 2021 qui rentre dans un contexte économique inhabituel, le modèle ne prend pas en compte ces aspects dans la prédiction des données.</a:t>
            </a:r>
          </a:p>
          <a:p>
            <a:pPr marL="0" lvl="0" indent="0" algn="l" rtl="0">
              <a:spcBef>
                <a:spcPts val="0"/>
              </a:spcBef>
              <a:spcAft>
                <a:spcPts val="0"/>
              </a:spcAft>
              <a:buNone/>
            </a:pPr>
            <a:endParaRPr i="1" dirty="0">
              <a:latin typeface="Montserrat"/>
              <a:ea typeface="Montserrat"/>
              <a:cs typeface="Montserrat"/>
              <a:sym typeface="Montserrat"/>
            </a:endParaRPr>
          </a:p>
        </p:txBody>
      </p:sp>
      <p:pic>
        <p:nvPicPr>
          <p:cNvPr id="3" name="Image 2">
            <a:extLst>
              <a:ext uri="{FF2B5EF4-FFF2-40B4-BE49-F238E27FC236}">
                <a16:creationId xmlns:a16="http://schemas.microsoft.com/office/drawing/2014/main" id="{17E0464B-E30A-3C8E-DD47-5105A35B2E57}"/>
              </a:ext>
            </a:extLst>
          </p:cNvPr>
          <p:cNvPicPr>
            <a:picLocks noChangeAspect="1"/>
          </p:cNvPicPr>
          <p:nvPr/>
        </p:nvPicPr>
        <p:blipFill>
          <a:blip r:embed="rId3"/>
          <a:stretch>
            <a:fillRect/>
          </a:stretch>
        </p:blipFill>
        <p:spPr>
          <a:xfrm>
            <a:off x="2803524" y="1354663"/>
            <a:ext cx="6296025" cy="15301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Les Plus Beaux Logis de Paris</a:t>
            </a:r>
            <a:endParaRPr/>
          </a:p>
          <a:p>
            <a:pPr marL="0" lvl="0" indent="0" algn="l" rtl="0">
              <a:spcBef>
                <a:spcPts val="0"/>
              </a:spcBef>
              <a:spcAft>
                <a:spcPts val="0"/>
              </a:spcAft>
              <a:buNone/>
            </a:pPr>
            <a:r>
              <a:rPr lang="fr"/>
              <a:t>Partie 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727650" y="617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3333"/>
              <a:buFont typeface="Arial"/>
              <a:buNone/>
            </a:pPr>
            <a:r>
              <a:rPr lang="fr" sz="3300">
                <a:latin typeface="Montserrat"/>
                <a:ea typeface="Montserrat"/>
                <a:cs typeface="Montserrat"/>
                <a:sym typeface="Montserrat"/>
              </a:rPr>
              <a:t>I. Méthodologie suivie </a:t>
            </a:r>
            <a:endParaRPr sz="3300">
              <a:latin typeface="Montserrat"/>
              <a:ea typeface="Montserrat"/>
              <a:cs typeface="Montserrat"/>
              <a:sym typeface="Montserrat"/>
            </a:endParaRPr>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Clr>
                <a:schemeClr val="dk1"/>
              </a:buClr>
              <a:buSzPct val="30555"/>
              <a:buFont typeface="Arial"/>
              <a:buNone/>
            </a:pPr>
            <a:endParaRPr sz="3600"/>
          </a:p>
          <a:p>
            <a:pPr marL="0" lvl="0" indent="0" algn="l" rtl="0">
              <a:spcBef>
                <a:spcPts val="0"/>
              </a:spcBef>
              <a:spcAft>
                <a:spcPts val="0"/>
              </a:spcAft>
              <a:buNone/>
            </a:pPr>
            <a:endParaRPr/>
          </a:p>
        </p:txBody>
      </p:sp>
      <p:sp>
        <p:nvSpPr>
          <p:cNvPr id="128" name="Google Shape;128;p20"/>
          <p:cNvSpPr txBox="1">
            <a:spLocks noGrp="1"/>
          </p:cNvSpPr>
          <p:nvPr>
            <p:ph type="body" idx="1"/>
          </p:nvPr>
        </p:nvSpPr>
        <p:spPr>
          <a:xfrm>
            <a:off x="697700" y="1304500"/>
            <a:ext cx="7688700" cy="2902200"/>
          </a:xfrm>
          <a:prstGeom prst="rect">
            <a:avLst/>
          </a:prstGeom>
        </p:spPr>
        <p:txBody>
          <a:bodyPr spcFirstLastPara="1" wrap="square" lIns="91425" tIns="91425" rIns="91425" bIns="91425" anchor="t" anchorCtr="0">
            <a:normAutofit/>
          </a:bodyPr>
          <a:lstStyle/>
          <a:p>
            <a:pPr algn="l">
              <a:buNone/>
            </a:pPr>
            <a:r>
              <a:rPr lang="fr-FR" b="0" i="0" dirty="0">
                <a:solidFill>
                  <a:srgbClr val="000000"/>
                </a:solidFill>
                <a:effectLst/>
                <a:latin typeface="Helvetica Neue"/>
              </a:rPr>
              <a:t>Dans cette partie nous allons labelliser automatiquement les biens immobiliers comme étant :</a:t>
            </a:r>
          </a:p>
          <a:p>
            <a:pPr algn="l">
              <a:spcAft>
                <a:spcPts val="675"/>
              </a:spcAft>
              <a:buFont typeface="Arial" panose="020B0604020202020204" pitchFamily="34" charset="0"/>
              <a:buChar char="•"/>
            </a:pPr>
            <a:r>
              <a:rPr lang="fr-FR" b="0" i="0" dirty="0">
                <a:solidFill>
                  <a:srgbClr val="000000"/>
                </a:solidFill>
                <a:effectLst/>
                <a:latin typeface="Helvetica Neue"/>
              </a:rPr>
              <a:t>soit des Appartements</a:t>
            </a:r>
          </a:p>
          <a:p>
            <a:pPr algn="l">
              <a:spcAft>
                <a:spcPts val="675"/>
              </a:spcAft>
              <a:buFont typeface="Arial" panose="020B0604020202020204" pitchFamily="34" charset="0"/>
              <a:buChar char="•"/>
            </a:pPr>
            <a:r>
              <a:rPr lang="fr-FR" b="0" i="0" dirty="0">
                <a:solidFill>
                  <a:srgbClr val="000000"/>
                </a:solidFill>
                <a:effectLst/>
                <a:latin typeface="Helvetica Neue"/>
              </a:rPr>
              <a:t>soit des Local industriel. commercial ou assimilé Pour cela nous allons utiliser l'algorithme du </a:t>
            </a:r>
            <a:r>
              <a:rPr lang="fr-FR" b="0" i="0" dirty="0" err="1">
                <a:solidFill>
                  <a:srgbClr val="000000"/>
                </a:solidFill>
                <a:effectLst/>
                <a:latin typeface="Helvetica Neue"/>
              </a:rPr>
              <a:t>KMeans</a:t>
            </a:r>
            <a:r>
              <a:rPr lang="fr-FR" b="0" i="0" dirty="0">
                <a:solidFill>
                  <a:srgbClr val="000000"/>
                </a:solidFill>
                <a:effectLst/>
                <a:latin typeface="Helvetica Neue"/>
              </a:rPr>
              <a:t> sur le jeu de données partagé par l'entreprise.</a:t>
            </a:r>
          </a:p>
          <a:p>
            <a:pPr algn="l">
              <a:buNone/>
            </a:pPr>
            <a:r>
              <a:rPr lang="fr-FR" b="0" i="0" dirty="0">
                <a:solidFill>
                  <a:srgbClr val="000000"/>
                </a:solidFill>
                <a:effectLst/>
                <a:latin typeface="Helvetica Neue"/>
              </a:rPr>
              <a:t>Pour que l'algorithme fonctionne, il faut que nous préparions les données en supprimant les dimensions inutiles et en nous concentrant sur le facteur discriminant entre les appartements et les locaux commerciaux : la différence dans le prix au mètre carré tel que nous l'avons vu avant.</a:t>
            </a:r>
          </a:p>
          <a:p>
            <a:pPr algn="l">
              <a:buNone/>
            </a:pPr>
            <a:r>
              <a:rPr lang="fr-FR" b="0" i="0" dirty="0">
                <a:solidFill>
                  <a:srgbClr val="000000"/>
                </a:solidFill>
                <a:effectLst/>
                <a:latin typeface="Helvetica Neue"/>
              </a:rPr>
              <a:t>On applique les transformations nécessaires. Tout d'abord nous allons calculer le prix au mètre carré en divisant la valeur foncière par la surface. Ensuite nous allons retirer ces colonnes car nous avons déjà l'information qu'elles contiennent dans la dimension prix au mètre carré désormais.</a:t>
            </a:r>
          </a:p>
          <a:p>
            <a:pPr marL="0" lvl="0" indent="0" algn="l" rtl="0">
              <a:spcBef>
                <a:spcPts val="1200"/>
              </a:spcBef>
              <a:spcAft>
                <a:spcPts val="1200"/>
              </a:spcAft>
              <a:buNone/>
            </a:pPr>
            <a:endParaRPr dirty="0"/>
          </a:p>
        </p:txBody>
      </p:sp>
      <p:pic>
        <p:nvPicPr>
          <p:cNvPr id="3" name="Image 2">
            <a:extLst>
              <a:ext uri="{FF2B5EF4-FFF2-40B4-BE49-F238E27FC236}">
                <a16:creationId xmlns:a16="http://schemas.microsoft.com/office/drawing/2014/main" id="{113E1FC4-0244-16B9-B114-EF1D7487AEE8}"/>
              </a:ext>
            </a:extLst>
          </p:cNvPr>
          <p:cNvPicPr>
            <a:picLocks noChangeAspect="1"/>
          </p:cNvPicPr>
          <p:nvPr/>
        </p:nvPicPr>
        <p:blipFill>
          <a:blip r:embed="rId3"/>
          <a:stretch>
            <a:fillRect/>
          </a:stretch>
        </p:blipFill>
        <p:spPr>
          <a:xfrm>
            <a:off x="1519450" y="4115002"/>
            <a:ext cx="6045200" cy="8851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FBD8971E-3242-83C0-ACB6-DB2ADADBFB52}"/>
              </a:ext>
            </a:extLst>
          </p:cNvPr>
          <p:cNvSpPr>
            <a:spLocks noGrp="1"/>
          </p:cNvSpPr>
          <p:nvPr>
            <p:ph type="body" idx="1"/>
          </p:nvPr>
        </p:nvSpPr>
        <p:spPr>
          <a:xfrm>
            <a:off x="658577" y="1210523"/>
            <a:ext cx="7688700" cy="2261100"/>
          </a:xfrm>
        </p:spPr>
        <p:txBody>
          <a:bodyPr/>
          <a:lstStyle/>
          <a:p>
            <a:pPr algn="l">
              <a:buNone/>
            </a:pPr>
            <a:r>
              <a:rPr lang="fr-FR" b="0" i="0" dirty="0">
                <a:solidFill>
                  <a:srgbClr val="000000"/>
                </a:solidFill>
                <a:effectLst/>
                <a:latin typeface="Helvetica Neue"/>
              </a:rPr>
              <a:t>Nous observons dans les données que nous avons des valeurs différentes de prix au mètre carré pour un même arrondissement (ici le 19ème arrondissement). Il se peut fort que cela soit notre dimension à utiliser pour attribuer les prix au mètre carré les plus </a:t>
            </a:r>
            <a:r>
              <a:rPr lang="fr-FR" b="0" i="0" dirty="0" err="1">
                <a:solidFill>
                  <a:srgbClr val="000000"/>
                </a:solidFill>
                <a:effectLst/>
                <a:latin typeface="Helvetica Neue"/>
              </a:rPr>
              <a:t>élévé</a:t>
            </a:r>
            <a:r>
              <a:rPr lang="fr-FR" b="0" i="0" dirty="0">
                <a:solidFill>
                  <a:srgbClr val="000000"/>
                </a:solidFill>
                <a:effectLst/>
                <a:latin typeface="Helvetica Neue"/>
              </a:rPr>
              <a:t> dans un département aux locaux commerciaux, et les prix les plus bas aux appartements.</a:t>
            </a:r>
          </a:p>
          <a:p>
            <a:pPr algn="l">
              <a:buNone/>
            </a:pPr>
            <a:r>
              <a:rPr lang="fr-FR" b="0" i="0" dirty="0">
                <a:solidFill>
                  <a:srgbClr val="000000"/>
                </a:solidFill>
                <a:effectLst/>
                <a:latin typeface="Helvetica Neue"/>
              </a:rPr>
              <a:t>Pour effectuer cette opération, nous allons utiliser l'algorithme du </a:t>
            </a:r>
            <a:r>
              <a:rPr lang="fr-FR" b="0" i="0" dirty="0" err="1">
                <a:solidFill>
                  <a:srgbClr val="000000"/>
                </a:solidFill>
                <a:effectLst/>
                <a:latin typeface="Helvetica Neue"/>
              </a:rPr>
              <a:t>Kmeans</a:t>
            </a:r>
            <a:r>
              <a:rPr lang="fr-FR" b="0" i="0" dirty="0">
                <a:solidFill>
                  <a:srgbClr val="000000"/>
                </a:solidFill>
                <a:effectLst/>
                <a:latin typeface="Helvetica Neue"/>
              </a:rPr>
              <a:t> qui va rechercher 2 centroïdes à travers les données.</a:t>
            </a:r>
          </a:p>
          <a:p>
            <a:endParaRPr lang="fr-FR" dirty="0"/>
          </a:p>
        </p:txBody>
      </p:sp>
      <p:pic>
        <p:nvPicPr>
          <p:cNvPr id="5" name="Image 4">
            <a:extLst>
              <a:ext uri="{FF2B5EF4-FFF2-40B4-BE49-F238E27FC236}">
                <a16:creationId xmlns:a16="http://schemas.microsoft.com/office/drawing/2014/main" id="{99992223-4476-2901-AA67-7394B8C9BC3D}"/>
              </a:ext>
            </a:extLst>
          </p:cNvPr>
          <p:cNvPicPr>
            <a:picLocks noChangeAspect="1"/>
          </p:cNvPicPr>
          <p:nvPr/>
        </p:nvPicPr>
        <p:blipFill>
          <a:blip r:embed="rId2"/>
          <a:stretch>
            <a:fillRect/>
          </a:stretch>
        </p:blipFill>
        <p:spPr>
          <a:xfrm>
            <a:off x="1710388" y="2733624"/>
            <a:ext cx="3163484" cy="1153442"/>
          </a:xfrm>
          <a:prstGeom prst="rect">
            <a:avLst/>
          </a:prstGeom>
        </p:spPr>
      </p:pic>
      <p:pic>
        <p:nvPicPr>
          <p:cNvPr id="7" name="Image 6">
            <a:extLst>
              <a:ext uri="{FF2B5EF4-FFF2-40B4-BE49-F238E27FC236}">
                <a16:creationId xmlns:a16="http://schemas.microsoft.com/office/drawing/2014/main" id="{6DF42F95-E970-2B98-28F8-FE204E47C899}"/>
              </a:ext>
            </a:extLst>
          </p:cNvPr>
          <p:cNvPicPr>
            <a:picLocks noChangeAspect="1"/>
          </p:cNvPicPr>
          <p:nvPr/>
        </p:nvPicPr>
        <p:blipFill>
          <a:blip r:embed="rId3"/>
          <a:stretch>
            <a:fillRect/>
          </a:stretch>
        </p:blipFill>
        <p:spPr>
          <a:xfrm>
            <a:off x="1710388" y="3887066"/>
            <a:ext cx="2108625" cy="281150"/>
          </a:xfrm>
          <a:prstGeom prst="rect">
            <a:avLst/>
          </a:prstGeom>
        </p:spPr>
      </p:pic>
      <p:pic>
        <p:nvPicPr>
          <p:cNvPr id="9" name="Image 8">
            <a:extLst>
              <a:ext uri="{FF2B5EF4-FFF2-40B4-BE49-F238E27FC236}">
                <a16:creationId xmlns:a16="http://schemas.microsoft.com/office/drawing/2014/main" id="{B8524053-25A5-BABA-BBA5-9152E2F9D87F}"/>
              </a:ext>
            </a:extLst>
          </p:cNvPr>
          <p:cNvPicPr>
            <a:picLocks noChangeAspect="1"/>
          </p:cNvPicPr>
          <p:nvPr/>
        </p:nvPicPr>
        <p:blipFill>
          <a:blip r:embed="rId4"/>
          <a:stretch>
            <a:fillRect/>
          </a:stretch>
        </p:blipFill>
        <p:spPr>
          <a:xfrm>
            <a:off x="4936367" y="2716519"/>
            <a:ext cx="4139688" cy="2341094"/>
          </a:xfrm>
          <a:prstGeom prst="rect">
            <a:avLst/>
          </a:prstGeom>
        </p:spPr>
      </p:pic>
    </p:spTree>
    <p:extLst>
      <p:ext uri="{BB962C8B-B14F-4D97-AF65-F5344CB8AC3E}">
        <p14:creationId xmlns:p14="http://schemas.microsoft.com/office/powerpoint/2010/main" val="3507324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1"/>
          <p:cNvSpPr txBox="1">
            <a:spLocks noGrp="1"/>
          </p:cNvSpPr>
          <p:nvPr>
            <p:ph type="title"/>
          </p:nvPr>
        </p:nvSpPr>
        <p:spPr>
          <a:xfrm>
            <a:off x="671000" y="640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sz="3300" dirty="0">
                <a:latin typeface="Montserrat"/>
                <a:ea typeface="Montserrat"/>
                <a:cs typeface="Montserrat"/>
                <a:sym typeface="Montserrat"/>
              </a:rPr>
              <a:t>II. Résultat de la classification</a:t>
            </a:r>
            <a:endParaRPr sz="3300" dirty="0">
              <a:latin typeface="Montserrat"/>
              <a:ea typeface="Montserrat"/>
              <a:cs typeface="Montserrat"/>
              <a:sym typeface="Montserrat"/>
            </a:endParaRPr>
          </a:p>
          <a:p>
            <a:pPr marL="0" lvl="0" indent="0" algn="l" rtl="0">
              <a:spcBef>
                <a:spcPts val="0"/>
              </a:spcBef>
              <a:spcAft>
                <a:spcPts val="0"/>
              </a:spcAft>
              <a:buNone/>
            </a:pPr>
            <a:endParaRPr sz="3600" dirty="0"/>
          </a:p>
          <a:p>
            <a:pPr marL="0" lvl="0" indent="0" algn="l" rtl="0">
              <a:spcBef>
                <a:spcPts val="0"/>
              </a:spcBef>
              <a:spcAft>
                <a:spcPts val="0"/>
              </a:spcAft>
              <a:buNone/>
            </a:pPr>
            <a:endParaRPr sz="3600" dirty="0"/>
          </a:p>
          <a:p>
            <a:pPr marL="0" lvl="0" indent="0" algn="l" rtl="0">
              <a:spcBef>
                <a:spcPts val="0"/>
              </a:spcBef>
              <a:spcAft>
                <a:spcPts val="0"/>
              </a:spcAft>
              <a:buNone/>
            </a:pPr>
            <a:endParaRPr dirty="0"/>
          </a:p>
        </p:txBody>
      </p:sp>
      <p:sp>
        <p:nvSpPr>
          <p:cNvPr id="134" name="Google Shape;134;p21"/>
          <p:cNvSpPr txBox="1">
            <a:spLocks noGrp="1"/>
          </p:cNvSpPr>
          <p:nvPr>
            <p:ph type="body" idx="1"/>
          </p:nvPr>
        </p:nvSpPr>
        <p:spPr>
          <a:xfrm>
            <a:off x="318299" y="1214183"/>
            <a:ext cx="7688700" cy="3861066"/>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FR" b="0" i="0" dirty="0">
                <a:solidFill>
                  <a:srgbClr val="000000"/>
                </a:solidFill>
                <a:effectLst/>
                <a:latin typeface="Helvetica Neue"/>
              </a:rPr>
              <a:t>Nous avons obtenu notre prédiction. Nous pouvons changer les labels et remplacer les valeurs à 0 par Local industriel. commercial ou assimilé et les valeurs à +1 par Appartement.</a:t>
            </a:r>
          </a:p>
          <a:p>
            <a:pPr marL="0" lvl="0" indent="0" algn="l" rtl="0">
              <a:spcBef>
                <a:spcPts val="0"/>
              </a:spcBef>
              <a:spcAft>
                <a:spcPts val="0"/>
              </a:spcAft>
              <a:buNone/>
            </a:pPr>
            <a:endParaRPr lang="fr-FR" dirty="0">
              <a:solidFill>
                <a:srgbClr val="000000"/>
              </a:solidFill>
              <a:latin typeface="Helvetica Neue"/>
              <a:ea typeface="Montserrat"/>
              <a:cs typeface="Montserrat"/>
              <a:sym typeface="Montserrat"/>
            </a:endParaRPr>
          </a:p>
          <a:p>
            <a:pPr marL="0" lvl="0" indent="0" algn="l" rtl="0">
              <a:spcBef>
                <a:spcPts val="0"/>
              </a:spcBef>
              <a:spcAft>
                <a:spcPts val="0"/>
              </a:spcAft>
              <a:buNone/>
            </a:pPr>
            <a:endParaRPr lang="fr-FR" i="1" dirty="0">
              <a:solidFill>
                <a:srgbClr val="000000"/>
              </a:solidFill>
              <a:latin typeface="Helvetica Neue"/>
              <a:ea typeface="Montserrat"/>
              <a:cs typeface="Montserrat"/>
              <a:sym typeface="Montserrat"/>
            </a:endParaRPr>
          </a:p>
          <a:p>
            <a:pPr marL="0" lvl="0" indent="0" algn="l" rtl="0">
              <a:spcBef>
                <a:spcPts val="0"/>
              </a:spcBef>
              <a:spcAft>
                <a:spcPts val="0"/>
              </a:spcAft>
              <a:buNone/>
            </a:pPr>
            <a:endParaRPr i="1" dirty="0">
              <a:latin typeface="Montserrat"/>
              <a:ea typeface="Montserrat"/>
              <a:cs typeface="Montserrat"/>
              <a:sym typeface="Montserrat"/>
            </a:endParaRPr>
          </a:p>
        </p:txBody>
      </p:sp>
      <p:pic>
        <p:nvPicPr>
          <p:cNvPr id="3" name="Image 2">
            <a:extLst>
              <a:ext uri="{FF2B5EF4-FFF2-40B4-BE49-F238E27FC236}">
                <a16:creationId xmlns:a16="http://schemas.microsoft.com/office/drawing/2014/main" id="{3D8CEC69-DD15-AEDF-E8E2-7D1F8C767661}"/>
              </a:ext>
            </a:extLst>
          </p:cNvPr>
          <p:cNvPicPr>
            <a:picLocks noChangeAspect="1"/>
          </p:cNvPicPr>
          <p:nvPr/>
        </p:nvPicPr>
        <p:blipFill>
          <a:blip r:embed="rId3"/>
          <a:stretch>
            <a:fillRect/>
          </a:stretch>
        </p:blipFill>
        <p:spPr>
          <a:xfrm>
            <a:off x="1720256" y="1889353"/>
            <a:ext cx="4934367" cy="311079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3EDB9B-DE36-2429-9212-518ACBC4C21F}"/>
              </a:ext>
            </a:extLst>
          </p:cNvPr>
          <p:cNvSpPr>
            <a:spLocks noGrp="1"/>
          </p:cNvSpPr>
          <p:nvPr>
            <p:ph type="title"/>
          </p:nvPr>
        </p:nvSpPr>
        <p:spPr/>
        <p:txBody>
          <a:bodyPr>
            <a:normAutofit fontScale="90000"/>
          </a:bodyPr>
          <a:lstStyle/>
          <a:p>
            <a:r>
              <a:rPr lang="en-US" dirty="0"/>
              <a:t>Conclusion</a:t>
            </a:r>
            <a:endParaRPr lang="fr-FR" dirty="0"/>
          </a:p>
        </p:txBody>
      </p:sp>
      <p:sp>
        <p:nvSpPr>
          <p:cNvPr id="3" name="Espace réservé du texte 2">
            <a:extLst>
              <a:ext uri="{FF2B5EF4-FFF2-40B4-BE49-F238E27FC236}">
                <a16:creationId xmlns:a16="http://schemas.microsoft.com/office/drawing/2014/main" id="{14356B07-0C16-A2AB-1D96-812EE5F69EB1}"/>
              </a:ext>
            </a:extLst>
          </p:cNvPr>
          <p:cNvSpPr>
            <a:spLocks noGrp="1"/>
          </p:cNvSpPr>
          <p:nvPr>
            <p:ph type="body" idx="1"/>
          </p:nvPr>
        </p:nvSpPr>
        <p:spPr/>
        <p:txBody>
          <a:bodyPr>
            <a:normAutofit lnSpcReduction="10000"/>
          </a:bodyPr>
          <a:lstStyle/>
          <a:p>
            <a:pPr marL="457200" marR="0" lvl="0" indent="-311150" algn="l" defTabSz="914400" rtl="0" eaLnBrk="1" fontAlgn="auto" latinLnBrk="0" hangingPunct="1">
              <a:lnSpc>
                <a:spcPct val="115000"/>
              </a:lnSpc>
              <a:spcBef>
                <a:spcPts val="0"/>
              </a:spcBef>
              <a:spcAft>
                <a:spcPts val="0"/>
              </a:spcAft>
              <a:buClr>
                <a:srgbClr val="595959"/>
              </a:buClr>
              <a:buSzPts val="1300"/>
              <a:buFont typeface="Lato"/>
              <a:buNone/>
              <a:tabLst/>
              <a:defRPr/>
            </a:pPr>
            <a:r>
              <a:rPr kumimoji="0" lang="fr-FR" sz="1300" b="0" i="0" u="none" strike="noStrike" kern="0" cap="none" spc="0" normalizeH="0" baseline="0" noProof="0" dirty="0">
                <a:ln>
                  <a:noFill/>
                </a:ln>
                <a:solidFill>
                  <a:srgbClr val="000000"/>
                </a:solidFill>
                <a:effectLst/>
                <a:uLnTx/>
                <a:uFillTx/>
                <a:latin typeface="Helvetica Neue"/>
                <a:cs typeface="Lato"/>
                <a:sym typeface="Lato"/>
              </a:rPr>
              <a:t>Le prix au m² est bien le facteur discriminant clé entre appartements et locaux commerciaux.</a:t>
            </a:r>
          </a:p>
          <a:p>
            <a:pPr marL="457200" marR="0" lvl="0" indent="-311150" algn="l" defTabSz="914400" rtl="0" eaLnBrk="1" fontAlgn="auto" latinLnBrk="0" hangingPunct="1">
              <a:lnSpc>
                <a:spcPct val="115000"/>
              </a:lnSpc>
              <a:spcBef>
                <a:spcPts val="0"/>
              </a:spcBef>
              <a:spcAft>
                <a:spcPts val="0"/>
              </a:spcAft>
              <a:buClr>
                <a:srgbClr val="595959"/>
              </a:buClr>
              <a:buSzPts val="1300"/>
              <a:buFont typeface="Lato"/>
              <a:buNone/>
              <a:tabLst/>
              <a:defRPr/>
            </a:pPr>
            <a:r>
              <a:rPr kumimoji="0" lang="fr-FR" sz="1300" b="0" i="0" u="none" strike="noStrike" kern="0" cap="none" spc="0" normalizeH="0" baseline="0" noProof="0" dirty="0">
                <a:ln>
                  <a:noFill/>
                </a:ln>
                <a:solidFill>
                  <a:srgbClr val="000000"/>
                </a:solidFill>
                <a:effectLst/>
                <a:uLnTx/>
                <a:uFillTx/>
                <a:latin typeface="Helvetica Neue"/>
                <a:cs typeface="Lato"/>
                <a:sym typeface="Lato"/>
              </a:rPr>
              <a:t>Le clustering confirme que, même sans labels, on peut séparer les biens en deux catégories cohérentes.</a:t>
            </a:r>
          </a:p>
          <a:p>
            <a:pPr marL="457200" marR="0" lvl="0" indent="-311150" algn="l" defTabSz="914400" rtl="0" eaLnBrk="1" fontAlgn="auto" latinLnBrk="0" hangingPunct="1">
              <a:lnSpc>
                <a:spcPct val="115000"/>
              </a:lnSpc>
              <a:spcBef>
                <a:spcPts val="0"/>
              </a:spcBef>
              <a:spcAft>
                <a:spcPts val="0"/>
              </a:spcAft>
              <a:buClr>
                <a:srgbClr val="595959"/>
              </a:buClr>
              <a:buSzPts val="1300"/>
              <a:buFont typeface="Lato"/>
              <a:buNone/>
              <a:tabLst/>
              <a:defRPr/>
            </a:pPr>
            <a:endParaRPr kumimoji="0" lang="fr-FR" sz="1300" b="0" i="0" u="none" strike="noStrike" kern="0" cap="none" spc="0" normalizeH="0" baseline="0" noProof="0" dirty="0">
              <a:ln>
                <a:noFill/>
              </a:ln>
              <a:solidFill>
                <a:srgbClr val="000000"/>
              </a:solidFill>
              <a:effectLst/>
              <a:uLnTx/>
              <a:uFillTx/>
              <a:latin typeface="Helvetica Neue"/>
              <a:cs typeface="Lato"/>
              <a:sym typeface="Lato"/>
            </a:endParaRPr>
          </a:p>
          <a:p>
            <a:pPr marL="457200" marR="0" lvl="0" indent="-311150" algn="l" defTabSz="914400" rtl="0" eaLnBrk="1" fontAlgn="auto" latinLnBrk="0" hangingPunct="1">
              <a:lnSpc>
                <a:spcPct val="115000"/>
              </a:lnSpc>
              <a:spcBef>
                <a:spcPts val="0"/>
              </a:spcBef>
              <a:spcAft>
                <a:spcPts val="675"/>
              </a:spcAft>
              <a:buClr>
                <a:srgbClr val="595959"/>
              </a:buClr>
              <a:buSzPts val="1300"/>
              <a:buFont typeface="Arial" panose="020B0604020202020204" pitchFamily="34" charset="0"/>
              <a:buChar char="•"/>
              <a:tabLst/>
              <a:defRPr/>
            </a:pPr>
            <a:r>
              <a:rPr kumimoji="0" lang="fr-FR" sz="1300" b="0" i="0" u="none" strike="noStrike" kern="0" cap="none" spc="0" normalizeH="0" baseline="0" noProof="0" dirty="0">
                <a:ln>
                  <a:noFill/>
                </a:ln>
                <a:solidFill>
                  <a:srgbClr val="000000"/>
                </a:solidFill>
                <a:effectLst/>
                <a:uLnTx/>
                <a:uFillTx/>
                <a:latin typeface="Helvetica Neue"/>
                <a:cs typeface="Lato"/>
                <a:sym typeface="Lato"/>
              </a:rPr>
              <a:t>Les limites de l'exercice :</a:t>
            </a:r>
          </a:p>
          <a:p>
            <a:pPr marL="457200" marR="0" lvl="0" indent="-311150" algn="l" defTabSz="914400" rtl="0" eaLnBrk="1" fontAlgn="auto" latinLnBrk="0" hangingPunct="1">
              <a:lnSpc>
                <a:spcPct val="115000"/>
              </a:lnSpc>
              <a:spcBef>
                <a:spcPts val="0"/>
              </a:spcBef>
              <a:spcAft>
                <a:spcPts val="0"/>
              </a:spcAft>
              <a:buClr>
                <a:srgbClr val="595959"/>
              </a:buClr>
              <a:buSzPts val="1300"/>
              <a:buFont typeface="Lato"/>
              <a:buNone/>
              <a:tabLst/>
              <a:defRPr/>
            </a:pPr>
            <a:r>
              <a:rPr kumimoji="0" lang="fr-FR" sz="1300" b="0" i="0" u="none" strike="noStrike" kern="0" cap="none" spc="0" normalizeH="0" baseline="0" noProof="0" dirty="0" err="1">
                <a:ln>
                  <a:noFill/>
                </a:ln>
                <a:solidFill>
                  <a:srgbClr val="000000"/>
                </a:solidFill>
                <a:effectLst/>
                <a:uLnTx/>
                <a:uFillTx/>
                <a:latin typeface="Helvetica Neue"/>
                <a:cs typeface="Lato"/>
                <a:sym typeface="Lato"/>
              </a:rPr>
              <a:t>KMeans</a:t>
            </a:r>
            <a:r>
              <a:rPr kumimoji="0" lang="fr-FR" sz="1300" b="0" i="0" u="none" strike="noStrike" kern="0" cap="none" spc="0" normalizeH="0" baseline="0" noProof="0" dirty="0">
                <a:ln>
                  <a:noFill/>
                </a:ln>
                <a:solidFill>
                  <a:srgbClr val="000000"/>
                </a:solidFill>
                <a:effectLst/>
                <a:uLnTx/>
                <a:uFillTx/>
                <a:latin typeface="Helvetica Neue"/>
                <a:cs typeface="Lato"/>
                <a:sym typeface="Lato"/>
              </a:rPr>
              <a:t> : ne connaît pas les vrais labels → nécessite une interprétation humaine. Sensibilité aux </a:t>
            </a:r>
            <a:r>
              <a:rPr kumimoji="0" lang="fr-FR" sz="1300" b="0" i="0" u="none" strike="noStrike" kern="0" cap="none" spc="0" normalizeH="0" baseline="0" noProof="0" dirty="0" err="1">
                <a:ln>
                  <a:noFill/>
                </a:ln>
                <a:solidFill>
                  <a:srgbClr val="000000"/>
                </a:solidFill>
                <a:effectLst/>
                <a:uLnTx/>
                <a:uFillTx/>
                <a:latin typeface="Helvetica Neue"/>
                <a:cs typeface="Lato"/>
                <a:sym typeface="Lato"/>
              </a:rPr>
              <a:t>outliers</a:t>
            </a:r>
            <a:endParaRPr kumimoji="0" lang="fr-FR" sz="1300" b="0" i="0" u="none" strike="noStrike" kern="0" cap="none" spc="0" normalizeH="0" baseline="0" noProof="0" dirty="0">
              <a:ln>
                <a:noFill/>
              </a:ln>
              <a:solidFill>
                <a:srgbClr val="000000"/>
              </a:solidFill>
              <a:effectLst/>
              <a:uLnTx/>
              <a:uFillTx/>
              <a:latin typeface="Helvetica Neue"/>
              <a:cs typeface="Lato"/>
              <a:sym typeface="Lato"/>
            </a:endParaRPr>
          </a:p>
          <a:p>
            <a:pPr marL="457200" marR="0" lvl="0" indent="-311150" algn="l" defTabSz="914400" rtl="0" eaLnBrk="1" fontAlgn="auto" latinLnBrk="0" hangingPunct="1">
              <a:lnSpc>
                <a:spcPct val="115000"/>
              </a:lnSpc>
              <a:spcBef>
                <a:spcPts val="0"/>
              </a:spcBef>
              <a:spcAft>
                <a:spcPts val="0"/>
              </a:spcAft>
              <a:buClr>
                <a:srgbClr val="595959"/>
              </a:buClr>
              <a:buSzPts val="1300"/>
              <a:buFont typeface="Lato"/>
              <a:buNone/>
              <a:tabLst/>
              <a:defRPr/>
            </a:pPr>
            <a:r>
              <a:rPr kumimoji="0" lang="fr-FR" sz="1300" b="0" i="0" u="none" strike="noStrike" kern="0" cap="none" spc="0" normalizeH="0" baseline="0" noProof="0" dirty="0">
                <a:ln>
                  <a:noFill/>
                </a:ln>
                <a:solidFill>
                  <a:srgbClr val="000000"/>
                </a:solidFill>
                <a:effectLst/>
                <a:uLnTx/>
                <a:uFillTx/>
                <a:latin typeface="Helvetica Neue"/>
                <a:cs typeface="Lato"/>
                <a:sym typeface="Lato"/>
              </a:rPr>
              <a:t>Quelques valeurs extrêmes peuvent déplacer fortement les centroïdes et fausser la classification. Sans normalisation, le </a:t>
            </a:r>
            <a:r>
              <a:rPr kumimoji="0" lang="fr-FR" sz="1300" b="0" i="0" u="none" strike="noStrike" kern="0" cap="none" spc="0" normalizeH="0" baseline="0" noProof="0" dirty="0" err="1">
                <a:ln>
                  <a:noFill/>
                </a:ln>
                <a:solidFill>
                  <a:srgbClr val="000000"/>
                </a:solidFill>
                <a:effectLst/>
                <a:uLnTx/>
                <a:uFillTx/>
                <a:latin typeface="Helvetica Neue"/>
                <a:cs typeface="Lato"/>
                <a:sym typeface="Lato"/>
              </a:rPr>
              <a:t>kmean</a:t>
            </a:r>
            <a:r>
              <a:rPr kumimoji="0" lang="fr-FR" sz="1300" b="0" i="0" u="none" strike="noStrike" kern="0" cap="none" spc="0" normalizeH="0" baseline="0" noProof="0" dirty="0">
                <a:ln>
                  <a:noFill/>
                </a:ln>
                <a:solidFill>
                  <a:srgbClr val="000000"/>
                </a:solidFill>
                <a:effectLst/>
                <a:uLnTx/>
                <a:uFillTx/>
                <a:latin typeface="Helvetica Neue"/>
                <a:cs typeface="Lato"/>
                <a:sym typeface="Lato"/>
              </a:rPr>
              <a:t> serait sensible à l'échelle et donc peut biaise les résultats</a:t>
            </a:r>
          </a:p>
          <a:p>
            <a:pPr marL="146050" indent="0">
              <a:buNone/>
            </a:pPr>
            <a:endParaRPr lang="fr-FR" dirty="0"/>
          </a:p>
        </p:txBody>
      </p:sp>
    </p:spTree>
    <p:extLst>
      <p:ext uri="{BB962C8B-B14F-4D97-AF65-F5344CB8AC3E}">
        <p14:creationId xmlns:p14="http://schemas.microsoft.com/office/powerpoint/2010/main" val="2223237655"/>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TotalTime>
  <Words>1137</Words>
  <Application>Microsoft Office PowerPoint</Application>
  <PresentationFormat>Affichage à l'écran (16:9)</PresentationFormat>
  <Paragraphs>115</Paragraphs>
  <Slides>18</Slides>
  <Notes>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18</vt:i4>
      </vt:variant>
    </vt:vector>
  </HeadingPairs>
  <TitlesOfParts>
    <vt:vector size="24" baseType="lpstr">
      <vt:lpstr>Montserrat</vt:lpstr>
      <vt:lpstr>Lato</vt:lpstr>
      <vt:lpstr>Raleway</vt:lpstr>
      <vt:lpstr>Helvetica Neue</vt:lpstr>
      <vt:lpstr>Arial</vt:lpstr>
      <vt:lpstr>Streamline</vt:lpstr>
      <vt:lpstr>Les Plus Beaux Logis de Paris Partie 1</vt:lpstr>
      <vt:lpstr>Présentation PowerPoint</vt:lpstr>
      <vt:lpstr>Analyse du marché de l’immobilier</vt:lpstr>
      <vt:lpstr>Présentation PowerPoint</vt:lpstr>
      <vt:lpstr>Présentation PowerPoint</vt:lpstr>
      <vt:lpstr>Présentation PowerPoint</vt:lpstr>
      <vt:lpstr>Présentation PowerPoint</vt:lpstr>
      <vt:lpstr>Présentation PowerPoint</vt:lpstr>
      <vt:lpstr>Présentation PowerPoint</vt:lpstr>
      <vt:lpstr>II. Méthodologie suivie    </vt:lpstr>
      <vt:lpstr>Présentation PowerPoint</vt:lpstr>
      <vt:lpstr>Présentation PowerPoint</vt:lpstr>
      <vt:lpstr>III. Résultat des prédictions   </vt:lpstr>
      <vt:lpstr>Les Plus Beaux Logis de Paris Partie 2</vt:lpstr>
      <vt:lpstr>I. Méthodologie suivie    </vt:lpstr>
      <vt:lpstr>Présentation PowerPoint</vt:lpstr>
      <vt:lpstr>II. Résultat de la classification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 Lawson</cp:lastModifiedBy>
  <cp:revision>2</cp:revision>
  <dcterms:modified xsi:type="dcterms:W3CDTF">2025-10-08T23:27:15Z</dcterms:modified>
</cp:coreProperties>
</file>