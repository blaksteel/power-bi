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embeddedFontLst>
    <p:embeddedFont>
      <p:font typeface="Montserrat" panose="00000500000000000000" pitchFamily="2"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660"/>
  </p:normalViewPr>
  <p:slideViewPr>
    <p:cSldViewPr snapToGrid="0">
      <p:cViewPr varScale="1">
        <p:scale>
          <a:sx n="132" d="100"/>
          <a:sy n="132" d="100"/>
        </p:scale>
        <p:origin x="418"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Lawson" userId="a35d76dbc266a731" providerId="LiveId" clId="{C81BA15B-2B97-475F-93B1-B62B1331AA27}"/>
    <pc:docChg chg="undo custSel delSld modSld">
      <pc:chgData name="Alex Lawson" userId="a35d76dbc266a731" providerId="LiveId" clId="{C81BA15B-2B97-475F-93B1-B62B1331AA27}" dt="2026-04-10T17:13:00.403" v="67" actId="20577"/>
      <pc:docMkLst>
        <pc:docMk/>
      </pc:docMkLst>
      <pc:sldChg chg="modSp mod">
        <pc:chgData name="Alex Lawson" userId="a35d76dbc266a731" providerId="LiveId" clId="{C81BA15B-2B97-475F-93B1-B62B1331AA27}" dt="2026-04-07T21:31:42.595" v="6" actId="20577"/>
        <pc:sldMkLst>
          <pc:docMk/>
          <pc:sldMk cId="0" sldId="262"/>
        </pc:sldMkLst>
        <pc:spChg chg="mod">
          <ac:chgData name="Alex Lawson" userId="a35d76dbc266a731" providerId="LiveId" clId="{C81BA15B-2B97-475F-93B1-B62B1331AA27}" dt="2026-04-07T21:31:42.595" v="6" actId="20577"/>
          <ac:spMkLst>
            <pc:docMk/>
            <pc:sldMk cId="0" sldId="262"/>
            <ac:spMk id="121" creationId="{00000000-0000-0000-0000-000000000000}"/>
          </ac:spMkLst>
        </pc:spChg>
      </pc:sldChg>
      <pc:sldChg chg="modSp mod">
        <pc:chgData name="Alex Lawson" userId="a35d76dbc266a731" providerId="LiveId" clId="{C81BA15B-2B97-475F-93B1-B62B1331AA27}" dt="2026-04-07T21:46:41.458" v="22" actId="20577"/>
        <pc:sldMkLst>
          <pc:docMk/>
          <pc:sldMk cId="0" sldId="263"/>
        </pc:sldMkLst>
        <pc:spChg chg="mod">
          <ac:chgData name="Alex Lawson" userId="a35d76dbc266a731" providerId="LiveId" clId="{C81BA15B-2B97-475F-93B1-B62B1331AA27}" dt="2026-04-07T21:46:41.458" v="22" actId="20577"/>
          <ac:spMkLst>
            <pc:docMk/>
            <pc:sldMk cId="0" sldId="263"/>
            <ac:spMk id="127" creationId="{00000000-0000-0000-0000-000000000000}"/>
          </ac:spMkLst>
        </pc:spChg>
      </pc:sldChg>
      <pc:sldChg chg="modSp mod">
        <pc:chgData name="Alex Lawson" userId="a35d76dbc266a731" providerId="LiveId" clId="{C81BA15B-2B97-475F-93B1-B62B1331AA27}" dt="2026-04-10T17:13:00.403" v="67" actId="20577"/>
        <pc:sldMkLst>
          <pc:docMk/>
          <pc:sldMk cId="0" sldId="264"/>
        </pc:sldMkLst>
        <pc:spChg chg="mod">
          <ac:chgData name="Alex Lawson" userId="a35d76dbc266a731" providerId="LiveId" clId="{C81BA15B-2B97-475F-93B1-B62B1331AA27}" dt="2026-04-10T17:13:00.403" v="67" actId="20577"/>
          <ac:spMkLst>
            <pc:docMk/>
            <pc:sldMk cId="0" sldId="264"/>
            <ac:spMk id="13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13c28d163b2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g13c28d163b2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13c28d163b2_2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g13c28d163b2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8" name="Google Shape;11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50970d574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4" name="Google Shape;124;g250970d574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0" name="Google Shape;13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Calibri"/>
              <a:buNone/>
              <a:defRPr sz="60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Calibri"/>
              <a:buNone/>
              <a:defRPr sz="60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39" name="Google Shape;39;p6"/>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41" name="Google Shape;41;p6"/>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Calibri"/>
              <a:buNone/>
              <a:defRPr sz="32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Calibri"/>
              <a:buNone/>
              <a:defRPr sz="32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500"/>
          </a:xfrm>
          <a:prstGeom prst="rect">
            <a:avLst/>
          </a:prstGeom>
          <a:noFill/>
          <a:ln>
            <a:noFill/>
          </a:ln>
        </p:spPr>
      </p:sp>
      <p:sp>
        <p:nvSpPr>
          <p:cNvPr id="64" name="Google Shape;64;p10"/>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fr-FR" b="1">
                <a:latin typeface="Montserrat"/>
                <a:ea typeface="Montserrat"/>
                <a:cs typeface="Montserrat"/>
                <a:sym typeface="Montserrat"/>
              </a:rPr>
              <a:t>Cahier des charges</a:t>
            </a:r>
            <a:endParaRPr b="1">
              <a:latin typeface="Montserrat"/>
              <a:ea typeface="Montserrat"/>
              <a:cs typeface="Montserrat"/>
              <a:sym typeface="Montserrat"/>
            </a:endParaRPr>
          </a:p>
        </p:txBody>
      </p:sp>
      <p:sp>
        <p:nvSpPr>
          <p:cNvPr id="85" name="Google Shape;85;p13"/>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fr-FR">
                <a:latin typeface="Montserrat"/>
                <a:ea typeface="Montserrat"/>
                <a:cs typeface="Montserrat"/>
                <a:sym typeface="Montserrat"/>
              </a:rPr>
              <a:t>Élaboration d’un Portfolio </a:t>
            </a:r>
            <a:endParaRPr>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838200" y="33700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b="1">
                <a:latin typeface="Montserrat"/>
                <a:ea typeface="Montserrat"/>
                <a:cs typeface="Montserrat"/>
                <a:sym typeface="Montserrat"/>
              </a:rPr>
              <a:t>Sommaire</a:t>
            </a:r>
            <a:endParaRPr b="1">
              <a:latin typeface="Montserrat"/>
              <a:ea typeface="Montserrat"/>
              <a:cs typeface="Montserrat"/>
              <a:sym typeface="Montserrat"/>
            </a:endParaRPr>
          </a:p>
        </p:txBody>
      </p:sp>
      <p:sp>
        <p:nvSpPr>
          <p:cNvPr id="91" name="Google Shape;91;p14"/>
          <p:cNvSpPr txBox="1">
            <a:spLocks noGrp="1"/>
          </p:cNvSpPr>
          <p:nvPr>
            <p:ph type="body" idx="1"/>
          </p:nvPr>
        </p:nvSpPr>
        <p:spPr>
          <a:xfrm>
            <a:off x="948275" y="1512350"/>
            <a:ext cx="10515600" cy="4351200"/>
          </a:xfrm>
          <a:prstGeom prst="rect">
            <a:avLst/>
          </a:prstGeom>
          <a:noFill/>
          <a:ln>
            <a:noFill/>
          </a:ln>
        </p:spPr>
        <p:txBody>
          <a:bodyPr spcFirstLastPara="1" wrap="square" lIns="91425" tIns="45700" rIns="91425" bIns="45700" anchor="t" anchorCtr="0">
            <a:noAutofit/>
          </a:bodyPr>
          <a:lstStyle/>
          <a:p>
            <a:pPr marL="228600" lvl="0" indent="-226059" algn="l" rtl="0">
              <a:lnSpc>
                <a:spcPct val="87000"/>
              </a:lnSpc>
              <a:spcBef>
                <a:spcPts val="0"/>
              </a:spcBef>
              <a:spcAft>
                <a:spcPts val="0"/>
              </a:spcAft>
              <a:buClr>
                <a:schemeClr val="dk1"/>
              </a:buClr>
              <a:buSzPts val="1760"/>
              <a:buFont typeface="Montserrat"/>
              <a:buAutoNum type="arabicPeriod"/>
            </a:pPr>
            <a:r>
              <a:rPr lang="fr-FR" sz="1760">
                <a:latin typeface="Montserrat"/>
                <a:ea typeface="Montserrat"/>
                <a:cs typeface="Montserrat"/>
                <a:sym typeface="Montserrat"/>
              </a:rPr>
              <a:t>Présentation du projet</a:t>
            </a:r>
            <a:endParaRPr sz="2460">
              <a:latin typeface="Montserrat"/>
              <a:ea typeface="Montserrat"/>
              <a:cs typeface="Montserrat"/>
              <a:sym typeface="Montserrat"/>
            </a:endParaRPr>
          </a:p>
          <a:p>
            <a:pPr marL="228600" lvl="0" indent="-226059" algn="l" rtl="0">
              <a:lnSpc>
                <a:spcPct val="87000"/>
              </a:lnSpc>
              <a:spcBef>
                <a:spcPts val="1800"/>
              </a:spcBef>
              <a:spcAft>
                <a:spcPts val="0"/>
              </a:spcAft>
              <a:buClr>
                <a:schemeClr val="dk1"/>
              </a:buClr>
              <a:buSzPts val="1760"/>
              <a:buFont typeface="Montserrat"/>
              <a:buAutoNum type="arabicPeriod"/>
            </a:pPr>
            <a:r>
              <a:rPr lang="fr-FR" sz="1760">
                <a:latin typeface="Montserrat"/>
                <a:ea typeface="Montserrat"/>
                <a:cs typeface="Montserrat"/>
                <a:sym typeface="Montserrat"/>
              </a:rPr>
              <a:t>Enjeux et objectifs</a:t>
            </a:r>
            <a:endParaRPr sz="1760">
              <a:latin typeface="Montserrat"/>
              <a:ea typeface="Montserrat"/>
              <a:cs typeface="Montserrat"/>
              <a:sym typeface="Montserrat"/>
            </a:endParaRPr>
          </a:p>
          <a:p>
            <a:pPr marL="228600" lvl="0" indent="-226059" algn="l" rtl="0">
              <a:lnSpc>
                <a:spcPct val="87000"/>
              </a:lnSpc>
              <a:spcBef>
                <a:spcPts val="1800"/>
              </a:spcBef>
              <a:spcAft>
                <a:spcPts val="0"/>
              </a:spcAft>
              <a:buSzPts val="1760"/>
              <a:buFont typeface="Montserrat"/>
              <a:buAutoNum type="arabicPeriod"/>
            </a:pPr>
            <a:r>
              <a:rPr lang="fr-FR" sz="1760">
                <a:latin typeface="Montserrat"/>
                <a:ea typeface="Montserrat"/>
                <a:cs typeface="Montserrat"/>
                <a:sym typeface="Montserrat"/>
              </a:rPr>
              <a:t>Équipe projet</a:t>
            </a:r>
            <a:endParaRPr sz="1760">
              <a:latin typeface="Montserrat"/>
              <a:ea typeface="Montserrat"/>
              <a:cs typeface="Montserrat"/>
              <a:sym typeface="Montserrat"/>
            </a:endParaRPr>
          </a:p>
          <a:p>
            <a:pPr marL="228600" lvl="0" indent="-226059" algn="l" rtl="0">
              <a:lnSpc>
                <a:spcPct val="87000"/>
              </a:lnSpc>
              <a:spcBef>
                <a:spcPts val="1800"/>
              </a:spcBef>
              <a:spcAft>
                <a:spcPts val="0"/>
              </a:spcAft>
              <a:buSzPts val="1760"/>
              <a:buFont typeface="Montserrat"/>
              <a:buAutoNum type="arabicPeriod"/>
            </a:pPr>
            <a:r>
              <a:rPr lang="fr-FR" sz="1760">
                <a:latin typeface="Montserrat"/>
                <a:ea typeface="Montserrat"/>
                <a:cs typeface="Montserrat"/>
                <a:sym typeface="Montserrat"/>
              </a:rPr>
              <a:t>Spécifications ergonomiques</a:t>
            </a:r>
            <a:endParaRPr sz="1760">
              <a:latin typeface="Montserrat"/>
              <a:ea typeface="Montserrat"/>
              <a:cs typeface="Montserrat"/>
              <a:sym typeface="Montserrat"/>
            </a:endParaRPr>
          </a:p>
          <a:p>
            <a:pPr marL="228600" lvl="0" indent="-226059" algn="l" rtl="0">
              <a:lnSpc>
                <a:spcPct val="87000"/>
              </a:lnSpc>
              <a:spcBef>
                <a:spcPts val="1800"/>
              </a:spcBef>
              <a:spcAft>
                <a:spcPts val="0"/>
              </a:spcAft>
              <a:buSzPts val="1760"/>
              <a:buFont typeface="Montserrat"/>
              <a:buAutoNum type="arabicPeriod"/>
            </a:pPr>
            <a:r>
              <a:rPr lang="fr-FR" sz="1760">
                <a:latin typeface="Montserrat"/>
                <a:ea typeface="Montserrat"/>
                <a:cs typeface="Montserrat"/>
                <a:sym typeface="Montserrat"/>
              </a:rPr>
              <a:t>Spécifications fonctionnelles</a:t>
            </a:r>
            <a:endParaRPr sz="1760">
              <a:latin typeface="Montserrat"/>
              <a:ea typeface="Montserrat"/>
              <a:cs typeface="Montserrat"/>
              <a:sym typeface="Montserrat"/>
            </a:endParaRPr>
          </a:p>
          <a:p>
            <a:pPr marL="228600" lvl="0" indent="-226059" algn="l" rtl="0">
              <a:lnSpc>
                <a:spcPct val="87000"/>
              </a:lnSpc>
              <a:spcBef>
                <a:spcPts val="1800"/>
              </a:spcBef>
              <a:spcAft>
                <a:spcPts val="0"/>
              </a:spcAft>
              <a:buSzPts val="1760"/>
              <a:buFont typeface="Montserrat"/>
              <a:buAutoNum type="arabicPeriod"/>
            </a:pPr>
            <a:r>
              <a:rPr lang="fr-FR" sz="1760">
                <a:latin typeface="Montserrat"/>
                <a:ea typeface="Montserrat"/>
                <a:cs typeface="Montserrat"/>
                <a:sym typeface="Montserrat"/>
              </a:rPr>
              <a:t>Spécifications techniques</a:t>
            </a:r>
            <a:endParaRPr sz="1760">
              <a:latin typeface="Montserrat"/>
              <a:ea typeface="Montserrat"/>
              <a:cs typeface="Montserrat"/>
              <a:sym typeface="Montserrat"/>
            </a:endParaRPr>
          </a:p>
          <a:p>
            <a:pPr marL="228600" lvl="0" indent="-226059" algn="l" rtl="0">
              <a:lnSpc>
                <a:spcPct val="87000"/>
              </a:lnSpc>
              <a:spcBef>
                <a:spcPts val="1800"/>
              </a:spcBef>
              <a:spcAft>
                <a:spcPts val="0"/>
              </a:spcAft>
              <a:buSzPts val="1760"/>
              <a:buFont typeface="Montserrat"/>
              <a:buAutoNum type="arabicPeriod"/>
            </a:pPr>
            <a:r>
              <a:rPr lang="fr-FR" sz="1760">
                <a:latin typeface="Montserrat"/>
                <a:ea typeface="Montserrat"/>
                <a:cs typeface="Montserrat"/>
                <a:sym typeface="Montserrat"/>
              </a:rPr>
              <a:t>Contraintes techniques et réglementaires</a:t>
            </a:r>
            <a:endParaRPr sz="1760">
              <a:latin typeface="Montserrat"/>
              <a:ea typeface="Montserrat"/>
              <a:cs typeface="Montserrat"/>
              <a:sym typeface="Montserrat"/>
            </a:endParaRPr>
          </a:p>
          <a:p>
            <a:pPr marL="228600" lvl="0" indent="-226059" algn="l" rtl="0">
              <a:lnSpc>
                <a:spcPct val="87000"/>
              </a:lnSpc>
              <a:spcBef>
                <a:spcPts val="1800"/>
              </a:spcBef>
              <a:spcAft>
                <a:spcPts val="0"/>
              </a:spcAft>
              <a:buClr>
                <a:schemeClr val="dk1"/>
              </a:buClr>
              <a:buSzPts val="1760"/>
              <a:buFont typeface="Montserrat"/>
              <a:buAutoNum type="arabicPeriod"/>
            </a:pPr>
            <a:r>
              <a:rPr lang="fr-FR" sz="1760">
                <a:latin typeface="Montserrat"/>
                <a:ea typeface="Montserrat"/>
                <a:cs typeface="Montserrat"/>
                <a:sym typeface="Montserrat"/>
              </a:rPr>
              <a:t>Qualité et performance</a:t>
            </a:r>
            <a:endParaRPr sz="1760">
              <a:latin typeface="Montserrat"/>
              <a:ea typeface="Montserrat"/>
              <a:cs typeface="Montserrat"/>
              <a:sym typeface="Montserrat"/>
            </a:endParaRPr>
          </a:p>
          <a:p>
            <a:pPr marL="228600" lvl="0" indent="-226059" algn="l" rtl="0">
              <a:lnSpc>
                <a:spcPct val="87000"/>
              </a:lnSpc>
              <a:spcBef>
                <a:spcPts val="1800"/>
              </a:spcBef>
              <a:spcAft>
                <a:spcPts val="0"/>
              </a:spcAft>
              <a:buClr>
                <a:schemeClr val="dk1"/>
              </a:buClr>
              <a:buSzPts val="1760"/>
              <a:buFont typeface="Montserrat"/>
              <a:buAutoNum type="arabicPeriod"/>
            </a:pPr>
            <a:r>
              <a:rPr lang="fr-FR" sz="1760">
                <a:latin typeface="Montserrat"/>
                <a:ea typeface="Montserrat"/>
                <a:cs typeface="Montserrat"/>
                <a:sym typeface="Montserrat"/>
              </a:rPr>
              <a:t>Rétroplanning</a:t>
            </a:r>
            <a:endParaRPr sz="2460">
              <a:latin typeface="Montserrat"/>
              <a:ea typeface="Montserrat"/>
              <a:cs typeface="Montserrat"/>
              <a:sym typeface="Montserrat"/>
            </a:endParaRPr>
          </a:p>
          <a:p>
            <a:pPr marL="228600" lvl="0" indent="-226059" algn="l" rtl="0">
              <a:lnSpc>
                <a:spcPct val="87000"/>
              </a:lnSpc>
              <a:spcBef>
                <a:spcPts val="1800"/>
              </a:spcBef>
              <a:spcAft>
                <a:spcPts val="0"/>
              </a:spcAft>
              <a:buClr>
                <a:schemeClr val="dk1"/>
              </a:buClr>
              <a:buSzPts val="1760"/>
              <a:buFont typeface="Montserrat"/>
              <a:buAutoNum type="arabicPeriod"/>
            </a:pPr>
            <a:r>
              <a:rPr lang="fr-FR" sz="1760">
                <a:latin typeface="Montserrat"/>
                <a:ea typeface="Montserrat"/>
                <a:cs typeface="Montserrat"/>
                <a:sym typeface="Montserrat"/>
              </a:rPr>
              <a:t>Devis</a:t>
            </a:r>
            <a:endParaRPr sz="2460">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b="1">
                <a:latin typeface="Montserrat"/>
                <a:ea typeface="Montserrat"/>
                <a:cs typeface="Montserrat"/>
                <a:sym typeface="Montserrat"/>
              </a:rPr>
              <a:t>Présentation du projet</a:t>
            </a:r>
            <a:endParaRPr b="1">
              <a:latin typeface="Montserrat"/>
              <a:ea typeface="Montserrat"/>
              <a:cs typeface="Montserrat"/>
              <a:sym typeface="Montserrat"/>
            </a:endParaRPr>
          </a:p>
        </p:txBody>
      </p:sp>
      <p:sp>
        <p:nvSpPr>
          <p:cNvPr id="97" name="Google Shape;97;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Montserrat"/>
              <a:buChar char="•"/>
            </a:pPr>
            <a:r>
              <a:rPr lang="fr-FR" dirty="0">
                <a:latin typeface="Montserrat"/>
                <a:ea typeface="Montserrat"/>
                <a:cs typeface="Montserrat"/>
                <a:sym typeface="Montserrat"/>
              </a:rPr>
              <a:t>Je viens d’achever ma dernière mission de consultant en tant qu’expert data pour l’entreprise de service numérique Data ESN et attends avec impatience ma prochaine mission qui continuera de vous faire progresser. L'entreprise </a:t>
            </a:r>
            <a:r>
              <a:rPr lang="fr-FR" dirty="0" err="1">
                <a:latin typeface="Montserrat"/>
                <a:ea typeface="Montserrat"/>
                <a:cs typeface="Montserrat"/>
                <a:sym typeface="Montserrat"/>
              </a:rPr>
              <a:t>Aeroworld</a:t>
            </a:r>
            <a:r>
              <a:rPr lang="fr-FR" dirty="0">
                <a:latin typeface="Montserrat"/>
                <a:ea typeface="Montserrat"/>
                <a:cs typeface="Montserrat"/>
                <a:sym typeface="Montserrat"/>
              </a:rPr>
              <a:t> cherche un profil de data </a:t>
            </a:r>
            <a:r>
              <a:rPr lang="fr-FR" dirty="0" err="1">
                <a:latin typeface="Montserrat"/>
                <a:ea typeface="Montserrat"/>
                <a:cs typeface="Montserrat"/>
                <a:sym typeface="Montserrat"/>
              </a:rPr>
              <a:t>analyst</a:t>
            </a:r>
            <a:r>
              <a:rPr lang="fr-FR" dirty="0">
                <a:latin typeface="Montserrat"/>
                <a:ea typeface="Montserrat"/>
                <a:cs typeface="Montserrat"/>
                <a:sym typeface="Montserrat"/>
              </a:rPr>
              <a:t> confirmé qui soit intéressé par le management d’une équipe et par l’innovation. </a:t>
            </a:r>
            <a:endParaRPr dirty="0">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b="1">
                <a:latin typeface="Montserrat"/>
                <a:ea typeface="Montserrat"/>
                <a:cs typeface="Montserrat"/>
                <a:sym typeface="Montserrat"/>
              </a:rPr>
              <a:t>Enjeux et objectifs</a:t>
            </a:r>
            <a:endParaRPr b="1">
              <a:latin typeface="Montserrat"/>
              <a:ea typeface="Montserrat"/>
              <a:cs typeface="Montserrat"/>
              <a:sym typeface="Montserrat"/>
            </a:endParaRPr>
          </a:p>
        </p:txBody>
      </p:sp>
      <p:sp>
        <p:nvSpPr>
          <p:cNvPr id="103" name="Google Shape;103;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Montserrat"/>
              <a:buChar char="•"/>
            </a:pPr>
            <a:r>
              <a:rPr lang="fr-FR" sz="2000" dirty="0" err="1">
                <a:latin typeface="Montserrat"/>
                <a:ea typeface="Montserrat"/>
                <a:cs typeface="Montserrat"/>
                <a:sym typeface="Montserrat"/>
              </a:rPr>
              <a:t>Aeroworld</a:t>
            </a:r>
            <a:r>
              <a:rPr lang="fr-FR" sz="2000" dirty="0">
                <a:latin typeface="Montserrat"/>
                <a:ea typeface="Montserrat"/>
                <a:cs typeface="Montserrat"/>
                <a:sym typeface="Montserrat"/>
              </a:rPr>
              <a:t> cherche à exploiter ses données massives pour améliorer la conception de ses aéronefs et optimiser la maintenance, tout en garantissant la sécurité et l’interopérabilité des systèmes.</a:t>
            </a:r>
          </a:p>
          <a:p>
            <a:pPr marL="228600" lvl="0" indent="-228600" algn="l" rtl="0">
              <a:lnSpc>
                <a:spcPct val="90000"/>
              </a:lnSpc>
              <a:spcBef>
                <a:spcPts val="0"/>
              </a:spcBef>
              <a:spcAft>
                <a:spcPts val="0"/>
              </a:spcAft>
              <a:buClr>
                <a:schemeClr val="dk1"/>
              </a:buClr>
              <a:buSzPts val="2800"/>
              <a:buFont typeface="Montserrat"/>
              <a:buChar char="•"/>
            </a:pPr>
            <a:endParaRPr lang="fr-FR" sz="2000" dirty="0">
              <a:latin typeface="Montserrat"/>
              <a:ea typeface="Montserrat"/>
              <a:cs typeface="Montserrat"/>
              <a:sym typeface="Montserrat"/>
            </a:endParaRPr>
          </a:p>
          <a:p>
            <a:pPr marL="228600" lvl="0" indent="-228600" algn="l" rtl="0">
              <a:lnSpc>
                <a:spcPct val="90000"/>
              </a:lnSpc>
              <a:spcBef>
                <a:spcPts val="0"/>
              </a:spcBef>
              <a:spcAft>
                <a:spcPts val="0"/>
              </a:spcAft>
              <a:buClr>
                <a:schemeClr val="dk1"/>
              </a:buClr>
              <a:buSzPts val="2800"/>
              <a:buFont typeface="Montserrat"/>
              <a:buChar char="•"/>
            </a:pPr>
            <a:r>
              <a:rPr lang="fr-FR" sz="2000" dirty="0" err="1">
                <a:latin typeface="Montserrat"/>
                <a:ea typeface="Montserrat"/>
                <a:cs typeface="Montserrat"/>
                <a:sym typeface="Montserrat"/>
              </a:rPr>
              <a:t>Aeroworld</a:t>
            </a:r>
            <a:r>
              <a:rPr lang="fr-FR" sz="2000" dirty="0">
                <a:latin typeface="Montserrat"/>
                <a:ea typeface="Montserrat"/>
                <a:cs typeface="Montserrat"/>
                <a:sym typeface="Montserrat"/>
              </a:rPr>
              <a:t> a besoin d’évaluer les portfolios afin d’identifier un data </a:t>
            </a:r>
            <a:r>
              <a:rPr lang="fr-FR" sz="2000" dirty="0" err="1">
                <a:latin typeface="Montserrat"/>
                <a:ea typeface="Montserrat"/>
                <a:cs typeface="Montserrat"/>
                <a:sym typeface="Montserrat"/>
              </a:rPr>
              <a:t>analyst</a:t>
            </a:r>
            <a:r>
              <a:rPr lang="fr-FR" sz="2000" dirty="0">
                <a:latin typeface="Montserrat"/>
                <a:ea typeface="Montserrat"/>
                <a:cs typeface="Montserrat"/>
                <a:sym typeface="Montserrat"/>
              </a:rPr>
              <a:t> expérimenté, capable de prendre des responsabilités managériales et de contribuer à l’innovation.</a:t>
            </a:r>
          </a:p>
          <a:p>
            <a:pPr marL="228600" lvl="0" indent="-228600" algn="l" rtl="0">
              <a:lnSpc>
                <a:spcPct val="90000"/>
              </a:lnSpc>
              <a:spcBef>
                <a:spcPts val="0"/>
              </a:spcBef>
              <a:spcAft>
                <a:spcPts val="0"/>
              </a:spcAft>
              <a:buClr>
                <a:schemeClr val="dk1"/>
              </a:buClr>
              <a:buSzPts val="2800"/>
              <a:buFont typeface="Montserrat"/>
              <a:buChar char="•"/>
            </a:pPr>
            <a:endParaRPr lang="fr-FR" sz="2000" dirty="0">
              <a:latin typeface="Montserrat"/>
              <a:ea typeface="Montserrat"/>
              <a:cs typeface="Montserrat"/>
              <a:sym typeface="Montserrat"/>
            </a:endParaRPr>
          </a:p>
          <a:p>
            <a:pPr marL="228600" lvl="0" indent="-228600" algn="l" rtl="0">
              <a:lnSpc>
                <a:spcPct val="90000"/>
              </a:lnSpc>
              <a:spcBef>
                <a:spcPts val="0"/>
              </a:spcBef>
              <a:spcAft>
                <a:spcPts val="0"/>
              </a:spcAft>
              <a:buClr>
                <a:schemeClr val="dk1"/>
              </a:buClr>
              <a:buSzPts val="2800"/>
              <a:buFont typeface="Montserrat"/>
              <a:buChar char="•"/>
            </a:pPr>
            <a:r>
              <a:rPr lang="fr-FR" sz="2000" b="1" dirty="0">
                <a:latin typeface="Montserrat"/>
                <a:ea typeface="Montserrat"/>
                <a:cs typeface="Montserrat"/>
                <a:sym typeface="Montserrat"/>
              </a:rPr>
              <a:t>Objectifs SMART: </a:t>
            </a:r>
          </a:p>
          <a:p>
            <a:pPr marL="0" lvl="0" indent="0" algn="l" rtl="0">
              <a:lnSpc>
                <a:spcPct val="90000"/>
              </a:lnSpc>
              <a:spcBef>
                <a:spcPts val="0"/>
              </a:spcBef>
              <a:spcAft>
                <a:spcPts val="0"/>
              </a:spcAft>
              <a:buClr>
                <a:schemeClr val="dk1"/>
              </a:buClr>
              <a:buSzPts val="2800"/>
              <a:buNone/>
            </a:pPr>
            <a:r>
              <a:rPr lang="fr-FR" sz="2000" b="1" dirty="0">
                <a:latin typeface="Montserrat"/>
                <a:ea typeface="Montserrat"/>
                <a:cs typeface="Montserrat"/>
                <a:sym typeface="Montserrat"/>
              </a:rPr>
              <a:t>   </a:t>
            </a:r>
            <a:r>
              <a:rPr lang="fr-FR" sz="2000" dirty="0">
                <a:latin typeface="Montserrat"/>
                <a:ea typeface="Montserrat"/>
                <a:cs typeface="Montserrat"/>
                <a:sym typeface="Montserrat"/>
              </a:rPr>
              <a:t>-Effectuer une veille métier et technologique</a:t>
            </a:r>
          </a:p>
          <a:p>
            <a:pPr marL="0" lvl="0" indent="0" algn="l" rtl="0">
              <a:lnSpc>
                <a:spcPct val="90000"/>
              </a:lnSpc>
              <a:spcBef>
                <a:spcPts val="0"/>
              </a:spcBef>
              <a:spcAft>
                <a:spcPts val="0"/>
              </a:spcAft>
              <a:buClr>
                <a:schemeClr val="dk1"/>
              </a:buClr>
              <a:buSzPts val="2800"/>
              <a:buNone/>
            </a:pPr>
            <a:r>
              <a:rPr lang="fr-FR" sz="2000" dirty="0">
                <a:latin typeface="Montserrat"/>
                <a:ea typeface="Montserrat"/>
                <a:cs typeface="Montserrat"/>
                <a:sym typeface="Montserrat"/>
              </a:rPr>
              <a:t>   -Adapter sa posture de professionnel en se positionnant comme consultant</a:t>
            </a:r>
          </a:p>
          <a:p>
            <a:pPr marL="0" lvl="0" indent="0" algn="l" rtl="0">
              <a:lnSpc>
                <a:spcPct val="90000"/>
              </a:lnSpc>
              <a:spcBef>
                <a:spcPts val="0"/>
              </a:spcBef>
              <a:spcAft>
                <a:spcPts val="0"/>
              </a:spcAft>
              <a:buClr>
                <a:schemeClr val="dk1"/>
              </a:buClr>
              <a:buSzPts val="2800"/>
              <a:buNone/>
            </a:pPr>
            <a:r>
              <a:rPr lang="fr-FR" sz="2000" dirty="0">
                <a:latin typeface="Montserrat"/>
                <a:ea typeface="Montserrat"/>
                <a:cs typeface="Montserrat"/>
                <a:sym typeface="Montserrat"/>
              </a:rPr>
              <a:t>   -Identifier les besoins métier en intégrant les différentes contraintes</a:t>
            </a:r>
            <a:endParaRPr sz="2000" dirty="0">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b="1">
                <a:latin typeface="Montserrat"/>
                <a:ea typeface="Montserrat"/>
                <a:cs typeface="Montserrat"/>
                <a:sym typeface="Montserrat"/>
              </a:rPr>
              <a:t>Équipe projet</a:t>
            </a:r>
            <a:endParaRPr b="1">
              <a:latin typeface="Montserrat"/>
              <a:ea typeface="Montserrat"/>
              <a:cs typeface="Montserrat"/>
              <a:sym typeface="Montserrat"/>
            </a:endParaRPr>
          </a:p>
        </p:txBody>
      </p:sp>
      <p:sp>
        <p:nvSpPr>
          <p:cNvPr id="109" name="Google Shape;109;p1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Montserrat"/>
              <a:buChar char="•"/>
            </a:pPr>
            <a:r>
              <a:rPr lang="fr-FR" dirty="0">
                <a:latin typeface="Montserrat"/>
                <a:ea typeface="Montserrat"/>
                <a:cs typeface="Montserrat"/>
                <a:sym typeface="Montserrat"/>
              </a:rPr>
              <a:t>L’équipe projet est composée du data </a:t>
            </a:r>
            <a:r>
              <a:rPr lang="fr-FR" dirty="0" err="1">
                <a:latin typeface="Montserrat"/>
                <a:ea typeface="Montserrat"/>
                <a:cs typeface="Montserrat"/>
                <a:sym typeface="Montserrat"/>
              </a:rPr>
              <a:t>analyst</a:t>
            </a:r>
            <a:r>
              <a:rPr lang="fr-FR" dirty="0">
                <a:latin typeface="Montserrat"/>
                <a:ea typeface="Montserrat"/>
                <a:cs typeface="Montserrat"/>
                <a:sym typeface="Montserrat"/>
              </a:rPr>
              <a:t> chargé de concevoir le portfolio (moi), et de la manager Hayley qui accompagne et valide les différentes étapes du projet.</a:t>
            </a:r>
            <a:endParaRPr dirty="0">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b="1">
                <a:latin typeface="Montserrat"/>
                <a:ea typeface="Montserrat"/>
                <a:cs typeface="Montserrat"/>
                <a:sym typeface="Montserrat"/>
              </a:rPr>
              <a:t>Spécifications ergonomiques</a:t>
            </a:r>
            <a:endParaRPr b="1">
              <a:latin typeface="Montserrat"/>
              <a:ea typeface="Montserrat"/>
              <a:cs typeface="Montserrat"/>
              <a:sym typeface="Montserrat"/>
            </a:endParaRPr>
          </a:p>
        </p:txBody>
      </p:sp>
      <p:sp>
        <p:nvSpPr>
          <p:cNvPr id="115" name="Google Shape;115;p1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Montserrat"/>
              <a:buChar char="•"/>
            </a:pPr>
            <a:r>
              <a:rPr lang="fr-FR" dirty="0">
                <a:latin typeface="Montserrat"/>
                <a:ea typeface="Montserrat"/>
                <a:cs typeface="Montserrat"/>
                <a:sym typeface="Montserrat"/>
              </a:rPr>
              <a:t>Le portfolio doit être ergonomique, clair et facile à naviguer. Il doit présenter une hiérarchie visuelle cohérente, des contenus lisibles, des visualisations compréhensibles et une mise en page harmonisée, tout en restant focalisé sur l’essentiel pour offrir une ex</a:t>
            </a:r>
          </a:p>
          <a:p>
            <a:pPr marL="0" lvl="0" indent="0" algn="l" rtl="0">
              <a:lnSpc>
                <a:spcPct val="90000"/>
              </a:lnSpc>
              <a:spcBef>
                <a:spcPts val="0"/>
              </a:spcBef>
              <a:spcAft>
                <a:spcPts val="0"/>
              </a:spcAft>
              <a:buClr>
                <a:schemeClr val="dk1"/>
              </a:buClr>
              <a:buSzPts val="2800"/>
              <a:buNone/>
            </a:pPr>
            <a:r>
              <a:rPr lang="fr-FR" dirty="0" err="1">
                <a:latin typeface="Montserrat"/>
                <a:ea typeface="Montserrat"/>
                <a:cs typeface="Montserrat"/>
                <a:sym typeface="Montserrat"/>
              </a:rPr>
              <a:t>périence</a:t>
            </a:r>
            <a:r>
              <a:rPr lang="fr-FR" dirty="0">
                <a:latin typeface="Montserrat"/>
                <a:ea typeface="Montserrat"/>
                <a:cs typeface="Montserrat"/>
                <a:sym typeface="Montserrat"/>
              </a:rPr>
              <a:t> utilisateur fluide et professionnelle.</a:t>
            </a:r>
          </a:p>
          <a:p>
            <a:pPr marL="0" lvl="0" indent="0" algn="l" rtl="0">
              <a:lnSpc>
                <a:spcPct val="90000"/>
              </a:lnSpc>
              <a:spcBef>
                <a:spcPts val="0"/>
              </a:spcBef>
              <a:spcAft>
                <a:spcPts val="0"/>
              </a:spcAft>
              <a:buClr>
                <a:schemeClr val="dk1"/>
              </a:buClr>
              <a:buSzPts val="2800"/>
              <a:buNone/>
            </a:pPr>
            <a:endParaRPr lang="fr-FR" dirty="0">
              <a:latin typeface="Montserrat"/>
              <a:ea typeface="Montserrat"/>
              <a:cs typeface="Montserrat"/>
              <a:sym typeface="Montserrat"/>
            </a:endParaRPr>
          </a:p>
          <a:p>
            <a:pPr marL="0" lvl="0" indent="0" algn="l" rtl="0">
              <a:lnSpc>
                <a:spcPct val="90000"/>
              </a:lnSpc>
              <a:spcBef>
                <a:spcPts val="0"/>
              </a:spcBef>
              <a:spcAft>
                <a:spcPts val="0"/>
              </a:spcAft>
              <a:buClr>
                <a:schemeClr val="dk1"/>
              </a:buClr>
              <a:buSzPts val="2800"/>
              <a:buNone/>
            </a:pPr>
            <a:r>
              <a:rPr lang="fr-FR" dirty="0">
                <a:latin typeface="Montserrat"/>
                <a:ea typeface="Montserrat"/>
                <a:cs typeface="Montserrat"/>
                <a:sym typeface="Montserrat"/>
              </a:rPr>
              <a:t>La navigation doit être intuitive et fluide, avec un menu clair et des parcours simples. Le design UX doit garantir lisibilité, cohérence visuelle et accessibilité, tout en valorisant les contenus clés du portfolio.</a:t>
            </a:r>
            <a:endParaRPr dirty="0">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b="1" dirty="0">
                <a:latin typeface="Montserrat"/>
                <a:ea typeface="Montserrat"/>
                <a:cs typeface="Montserrat"/>
                <a:sym typeface="Montserrat"/>
              </a:rPr>
              <a:t>Spécifications fonctionnelles</a:t>
            </a:r>
            <a:endParaRPr b="1" dirty="0">
              <a:latin typeface="Montserrat"/>
              <a:ea typeface="Montserrat"/>
              <a:cs typeface="Montserrat"/>
              <a:sym typeface="Montserrat"/>
            </a:endParaRPr>
          </a:p>
        </p:txBody>
      </p:sp>
      <p:sp>
        <p:nvSpPr>
          <p:cNvPr id="121" name="Google Shape;121;p1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1000"/>
              </a:spcBef>
              <a:spcAft>
                <a:spcPts val="0"/>
              </a:spcAft>
              <a:buClr>
                <a:schemeClr val="dk1"/>
              </a:buClr>
              <a:buSzPts val="2800"/>
              <a:buFont typeface="Montserrat"/>
              <a:buChar char="•"/>
            </a:pPr>
            <a:r>
              <a:rPr lang="fr-FR" dirty="0">
                <a:latin typeface="Montserrat"/>
                <a:ea typeface="Montserrat"/>
                <a:cs typeface="Montserrat"/>
                <a:sym typeface="Montserrat"/>
              </a:rPr>
              <a:t>Liste des fonctionnalités qui vont être mises en place </a:t>
            </a:r>
            <a:endParaRPr dirty="0">
              <a:latin typeface="Montserrat"/>
              <a:ea typeface="Montserrat"/>
              <a:cs typeface="Montserrat"/>
              <a:sym typeface="Montserrat"/>
            </a:endParaRPr>
          </a:p>
          <a:p>
            <a:pPr marL="685800" lvl="1" indent="-228600" algn="l" rtl="0">
              <a:lnSpc>
                <a:spcPct val="90000"/>
              </a:lnSpc>
              <a:spcBef>
                <a:spcPts val="1000"/>
              </a:spcBef>
              <a:spcAft>
                <a:spcPts val="0"/>
              </a:spcAft>
              <a:buSzPts val="1800"/>
              <a:buFont typeface="Montserrat"/>
              <a:buChar char="•"/>
            </a:pPr>
            <a:r>
              <a:rPr lang="fr-FR" dirty="0">
                <a:latin typeface="Montserrat"/>
                <a:ea typeface="Montserrat"/>
                <a:cs typeface="Montserrat"/>
                <a:sym typeface="Montserrat"/>
              </a:rPr>
              <a:t>Le portfolio doit présenter les compétences techniques (Python, SQL, Power BI, etc.) et les compétences comportementales.</a:t>
            </a:r>
          </a:p>
          <a:p>
            <a:pPr marL="685800" lvl="1" indent="-228600" algn="l" rtl="0">
              <a:lnSpc>
                <a:spcPct val="90000"/>
              </a:lnSpc>
              <a:spcBef>
                <a:spcPts val="1000"/>
              </a:spcBef>
              <a:spcAft>
                <a:spcPts val="0"/>
              </a:spcAft>
              <a:buSzPts val="1800"/>
              <a:buFont typeface="Montserrat"/>
              <a:buChar char="•"/>
            </a:pPr>
            <a:r>
              <a:rPr lang="fr-FR" dirty="0">
                <a:latin typeface="Montserrat"/>
                <a:ea typeface="Montserrat"/>
                <a:cs typeface="Montserrat"/>
                <a:sym typeface="Montserrat"/>
              </a:rPr>
              <a:t> Le portfolio doit être accessible via un lien public (CMS ou GitHub Pages)</a:t>
            </a:r>
          </a:p>
          <a:p>
            <a:pPr marL="228600" lvl="0" indent="0" algn="l" rtl="0">
              <a:lnSpc>
                <a:spcPct val="90000"/>
              </a:lnSpc>
              <a:spcBef>
                <a:spcPts val="1000"/>
              </a:spcBef>
              <a:spcAft>
                <a:spcPts val="1000"/>
              </a:spcAft>
              <a:buSzPts val="1800"/>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b="1" dirty="0">
                <a:latin typeface="Montserrat"/>
                <a:ea typeface="Montserrat"/>
                <a:cs typeface="Montserrat"/>
                <a:sym typeface="Montserrat"/>
              </a:rPr>
              <a:t>Contraintes et spécificités techniques et réglementaires</a:t>
            </a:r>
            <a:endParaRPr b="1" dirty="0">
              <a:latin typeface="Montserrat"/>
              <a:ea typeface="Montserrat"/>
              <a:cs typeface="Montserrat"/>
              <a:sym typeface="Montserrat"/>
            </a:endParaRPr>
          </a:p>
        </p:txBody>
      </p:sp>
      <p:sp>
        <p:nvSpPr>
          <p:cNvPr id="127" name="Google Shape;127;p2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1000"/>
              </a:spcBef>
              <a:spcAft>
                <a:spcPts val="0"/>
              </a:spcAft>
              <a:buClr>
                <a:schemeClr val="dk1"/>
              </a:buClr>
              <a:buSzPts val="2800"/>
              <a:buFont typeface="Montserrat"/>
              <a:buChar char="•"/>
            </a:pPr>
            <a:r>
              <a:rPr lang="fr-FR" dirty="0">
                <a:latin typeface="Montserrat"/>
                <a:ea typeface="Montserrat"/>
                <a:cs typeface="Montserrat"/>
                <a:sym typeface="Montserrat"/>
              </a:rPr>
              <a:t>Exemples de choix techniques pour le portfolio </a:t>
            </a:r>
            <a:endParaRPr dirty="0">
              <a:latin typeface="Montserrat"/>
              <a:ea typeface="Montserrat"/>
              <a:cs typeface="Montserrat"/>
              <a:sym typeface="Montserrat"/>
            </a:endParaRPr>
          </a:p>
          <a:p>
            <a:pPr marL="685800" marR="0" lvl="1" indent="-228600" algn="l" rtl="0">
              <a:lnSpc>
                <a:spcPct val="90000"/>
              </a:lnSpc>
              <a:spcBef>
                <a:spcPts val="1000"/>
              </a:spcBef>
              <a:spcAft>
                <a:spcPts val="0"/>
              </a:spcAft>
              <a:buSzPts val="1800"/>
              <a:buFont typeface="Montserrat"/>
              <a:buChar char="•"/>
            </a:pPr>
            <a:r>
              <a:rPr lang="fr-FR" dirty="0">
                <a:latin typeface="Montserrat"/>
                <a:ea typeface="Montserrat"/>
                <a:cs typeface="Montserrat"/>
                <a:sym typeface="Montserrat"/>
              </a:rPr>
              <a:t>Les fichiers doivent être organisés dans un dépôt GitHub public.</a:t>
            </a:r>
          </a:p>
          <a:p>
            <a:pPr marL="685800" marR="0" lvl="1" indent="-228600" algn="l" rtl="0">
              <a:lnSpc>
                <a:spcPct val="90000"/>
              </a:lnSpc>
              <a:spcBef>
                <a:spcPts val="1000"/>
              </a:spcBef>
              <a:spcAft>
                <a:spcPts val="0"/>
              </a:spcAft>
              <a:buSzPts val="1800"/>
              <a:buFont typeface="Montserrat"/>
              <a:buChar char="•"/>
            </a:pPr>
            <a:r>
              <a:rPr lang="fr-FR" dirty="0">
                <a:latin typeface="Montserrat"/>
                <a:ea typeface="Montserrat"/>
                <a:cs typeface="Montserrat"/>
                <a:sym typeface="Montserrat"/>
              </a:rPr>
              <a:t>Le portfolio doit être lisible sur desktop, tablette et mobile.</a:t>
            </a:r>
          </a:p>
          <a:p>
            <a:pPr marL="685800" marR="0" lvl="1" indent="-228600" algn="l" rtl="0">
              <a:lnSpc>
                <a:spcPct val="90000"/>
              </a:lnSpc>
              <a:spcBef>
                <a:spcPts val="1000"/>
              </a:spcBef>
              <a:spcAft>
                <a:spcPts val="0"/>
              </a:spcAft>
              <a:buSzPts val="1800"/>
              <a:buFont typeface="Montserrat"/>
              <a:buChar char="•"/>
            </a:pPr>
            <a:r>
              <a:rPr lang="fr-FR" dirty="0">
                <a:latin typeface="Montserrat"/>
                <a:ea typeface="Montserrat"/>
                <a:cs typeface="Montserrat"/>
                <a:sym typeface="Montserrat"/>
              </a:rPr>
              <a:t>Respect du RGPD</a:t>
            </a:r>
            <a:endParaRPr dirty="0">
              <a:latin typeface="Montserrat"/>
              <a:ea typeface="Montserrat"/>
              <a:cs typeface="Montserrat"/>
              <a:sym typeface="Montserrat"/>
            </a:endParaRPr>
          </a:p>
          <a:p>
            <a:pPr marL="228600" lvl="0" indent="0" algn="l" rtl="0">
              <a:lnSpc>
                <a:spcPct val="90000"/>
              </a:lnSpc>
              <a:spcBef>
                <a:spcPts val="1000"/>
              </a:spcBef>
              <a:spcAft>
                <a:spcPts val="0"/>
              </a:spcAft>
              <a:buSzPts val="1800"/>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fr-FR" b="1">
                <a:latin typeface="Montserrat"/>
                <a:ea typeface="Montserrat"/>
                <a:cs typeface="Montserrat"/>
                <a:sym typeface="Montserrat"/>
              </a:rPr>
              <a:t>Qualité et performance (1)</a:t>
            </a:r>
            <a:endParaRPr b="1">
              <a:latin typeface="Montserrat"/>
              <a:ea typeface="Montserrat"/>
              <a:cs typeface="Montserrat"/>
              <a:sym typeface="Montserrat"/>
            </a:endParaRPr>
          </a:p>
        </p:txBody>
      </p:sp>
      <p:sp>
        <p:nvSpPr>
          <p:cNvPr id="133" name="Google Shape;133;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57200" lvl="0" indent="-334327" algn="l" rtl="0">
              <a:lnSpc>
                <a:spcPct val="150000"/>
              </a:lnSpc>
              <a:spcBef>
                <a:spcPts val="0"/>
              </a:spcBef>
              <a:spcAft>
                <a:spcPts val="0"/>
              </a:spcAft>
              <a:buSzPct val="64285"/>
              <a:buFont typeface="Montserrat"/>
              <a:buChar char="•"/>
            </a:pPr>
            <a:r>
              <a:rPr lang="fr-FR" dirty="0">
                <a:latin typeface="Montserrat"/>
                <a:ea typeface="Montserrat"/>
                <a:cs typeface="Montserrat"/>
                <a:sym typeface="Montserrat"/>
              </a:rPr>
              <a:t>Contraintes à prendre en compte : </a:t>
            </a:r>
            <a:endParaRPr dirty="0">
              <a:latin typeface="Montserrat"/>
              <a:ea typeface="Montserrat"/>
              <a:cs typeface="Montserrat"/>
              <a:sym typeface="Montserrat"/>
            </a:endParaRPr>
          </a:p>
          <a:p>
            <a:pPr marL="914400" lvl="1" indent="-334327" algn="l" rtl="0">
              <a:lnSpc>
                <a:spcPct val="150000"/>
              </a:lnSpc>
              <a:spcBef>
                <a:spcPts val="0"/>
              </a:spcBef>
              <a:spcAft>
                <a:spcPts val="0"/>
              </a:spcAft>
              <a:buSzPct val="75000"/>
              <a:buFont typeface="Montserrat"/>
              <a:buChar char="•"/>
            </a:pPr>
            <a:r>
              <a:rPr lang="fr-FR" dirty="0">
                <a:latin typeface="Montserrat"/>
                <a:ea typeface="Montserrat"/>
                <a:cs typeface="Montserrat"/>
                <a:sym typeface="Montserrat"/>
              </a:rPr>
              <a:t>Absence de bugs bloquants ou gênants.</a:t>
            </a:r>
          </a:p>
          <a:p>
            <a:pPr marL="914400" lvl="1" indent="-334327" algn="l" rtl="0">
              <a:lnSpc>
                <a:spcPct val="150000"/>
              </a:lnSpc>
              <a:spcBef>
                <a:spcPts val="0"/>
              </a:spcBef>
              <a:spcAft>
                <a:spcPts val="0"/>
              </a:spcAft>
              <a:buSzPct val="75000"/>
              <a:buFont typeface="Montserrat"/>
              <a:buChar char="•"/>
            </a:pPr>
            <a:r>
              <a:rPr lang="fr-FR" dirty="0">
                <a:latin typeface="Montserrat"/>
                <a:ea typeface="Montserrat"/>
                <a:cs typeface="Montserrat"/>
                <a:sym typeface="Montserrat"/>
              </a:rPr>
              <a:t>Liens internes et externes fonctionnels.</a:t>
            </a:r>
            <a:endParaRPr dirty="0">
              <a:latin typeface="Montserrat"/>
              <a:ea typeface="Montserrat"/>
              <a:cs typeface="Montserrat"/>
              <a:sym typeface="Montserrat"/>
            </a:endParaRPr>
          </a:p>
          <a:p>
            <a:pPr marL="914400" lvl="1" indent="-334327" algn="l" rtl="0">
              <a:lnSpc>
                <a:spcPct val="150000"/>
              </a:lnSpc>
              <a:spcBef>
                <a:spcPts val="0"/>
              </a:spcBef>
              <a:spcAft>
                <a:spcPts val="0"/>
              </a:spcAft>
              <a:buSzPct val="75000"/>
              <a:buFont typeface="Montserrat"/>
              <a:buChar char="•"/>
            </a:pPr>
            <a:r>
              <a:rPr lang="fr-FR" dirty="0">
                <a:latin typeface="Montserrat"/>
                <a:ea typeface="Montserrat"/>
                <a:cs typeface="Montserrat"/>
                <a:sym typeface="Montserrat"/>
              </a:rPr>
              <a:t>Orthographe et grammaire irréprochables.</a:t>
            </a:r>
          </a:p>
          <a:p>
            <a:pPr marL="914400" lvl="1" indent="-334327" algn="l" rtl="0">
              <a:lnSpc>
                <a:spcPct val="150000"/>
              </a:lnSpc>
              <a:spcBef>
                <a:spcPts val="0"/>
              </a:spcBef>
              <a:spcAft>
                <a:spcPts val="0"/>
              </a:spcAft>
              <a:buSzPct val="75000"/>
              <a:buFont typeface="Montserrat"/>
              <a:buChar char="•"/>
            </a:pPr>
            <a:r>
              <a:rPr lang="fr-FR" dirty="0">
                <a:latin typeface="Montserrat"/>
                <a:ea typeface="Montserrat"/>
                <a:cs typeface="Montserrat"/>
                <a:sym typeface="Montserrat"/>
              </a:rPr>
              <a:t>Terminologie homogène et adaptée au public cible. </a:t>
            </a:r>
            <a:endParaRPr dirty="0">
              <a:latin typeface="Montserrat"/>
              <a:ea typeface="Montserrat"/>
              <a:cs typeface="Montserrat"/>
              <a:sym typeface="Montserrat"/>
            </a:endParaRPr>
          </a:p>
          <a:p>
            <a:pPr marL="457200" lvl="0" indent="-334327" algn="l" rtl="0">
              <a:lnSpc>
                <a:spcPct val="150000"/>
              </a:lnSpc>
              <a:spcBef>
                <a:spcPts val="0"/>
              </a:spcBef>
              <a:spcAft>
                <a:spcPts val="0"/>
              </a:spcAft>
              <a:buSzPct val="64285"/>
              <a:buFont typeface="Montserrat"/>
              <a:buChar char="•"/>
            </a:pPr>
            <a:r>
              <a:rPr lang="fr-FR" dirty="0">
                <a:latin typeface="Montserrat"/>
                <a:ea typeface="Montserrat"/>
                <a:cs typeface="Montserrat"/>
                <a:sym typeface="Montserrat"/>
              </a:rPr>
              <a:t>Contrastes conformes aux recommandations WCAG.</a:t>
            </a:r>
            <a:endParaRPr dirty="0">
              <a:latin typeface="Montserrat"/>
              <a:ea typeface="Montserrat"/>
              <a:cs typeface="Montserrat"/>
              <a:sym typeface="Montserrat"/>
            </a:endParaRPr>
          </a:p>
          <a:p>
            <a:pPr marL="0" lvl="0" indent="0" algn="l" rtl="0">
              <a:lnSpc>
                <a:spcPct val="150000"/>
              </a:lnSpc>
              <a:spcBef>
                <a:spcPts val="0"/>
              </a:spcBef>
              <a:spcAft>
                <a:spcPts val="0"/>
              </a:spcAft>
              <a:buNone/>
            </a:pPr>
            <a:endParaRPr dirty="0">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4087</TotalTime>
  <Words>432</Words>
  <Application>Microsoft Office PowerPoint</Application>
  <PresentationFormat>Grand écran</PresentationFormat>
  <Paragraphs>47</Paragraphs>
  <Slides>9</Slides>
  <Notes>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9</vt:i4>
      </vt:variant>
    </vt:vector>
  </HeadingPairs>
  <TitlesOfParts>
    <vt:vector size="13" baseType="lpstr">
      <vt:lpstr>Montserrat</vt:lpstr>
      <vt:lpstr>Calibri</vt:lpstr>
      <vt:lpstr>Arial</vt:lpstr>
      <vt:lpstr>Thème Office</vt:lpstr>
      <vt:lpstr>Cahier des charges</vt:lpstr>
      <vt:lpstr>Sommaire</vt:lpstr>
      <vt:lpstr>Présentation du projet</vt:lpstr>
      <vt:lpstr>Enjeux et objectifs</vt:lpstr>
      <vt:lpstr>Équipe projet</vt:lpstr>
      <vt:lpstr>Spécifications ergonomiques</vt:lpstr>
      <vt:lpstr>Spécifications fonctionnelles</vt:lpstr>
      <vt:lpstr>Contraintes et spécificités techniques et réglementaires</vt:lpstr>
      <vt:lpstr>Qualité et performance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Alex Lawson</cp:lastModifiedBy>
  <cp:revision>2</cp:revision>
  <dcterms:modified xsi:type="dcterms:W3CDTF">2026-04-10T17:13:09Z</dcterms:modified>
</cp:coreProperties>
</file>